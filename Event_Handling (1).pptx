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4" d="100"/>
          <a:sy n="84" d="100"/>
        </p:scale>
        <p:origin x="1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CD2EB49-6016-4F35-B295-514FDE737AA4}" type="datetimeFigureOut">
              <a:rPr lang="en-IN" smtClean="0"/>
              <a:t>15-10-2024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3484353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D2EB49-6016-4F35-B295-514FDE737AA4}" type="datetimeFigureOut">
              <a:rPr lang="en-IN" smtClean="0"/>
              <a:t>15-10-2024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2072503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CD2EB49-6016-4F35-B295-514FDE737AA4}" type="datetimeFigureOut">
              <a:rPr lang="en-IN" smtClean="0"/>
              <a:t>15-10-2024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119600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CD2EB49-6016-4F35-B295-514FDE737AA4}" type="datetimeFigureOut">
              <a:rPr lang="en-IN" smtClean="0"/>
              <a:t>15-10-2024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3378849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CD2EB49-6016-4F35-B295-514FDE737AA4}" type="datetimeFigureOut">
              <a:rPr lang="en-IN" smtClean="0"/>
              <a:t>15-10-2024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1404065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CD2EB49-6016-4F35-B295-514FDE737AA4}" type="datetimeFigureOut">
              <a:rPr lang="en-IN" smtClean="0"/>
              <a:t>15-10-2024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2887450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2EB49-6016-4F35-B295-514FDE737AA4}" type="datetimeFigureOut">
              <a:rPr lang="en-IN" smtClean="0"/>
              <a:t>15-10-2024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2799246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CD2EB49-6016-4F35-B295-514FDE737AA4}" type="datetimeFigureOut">
              <a:rPr lang="en-IN" smtClean="0"/>
              <a:t>15-10-2024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1694713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CD2EB49-6016-4F35-B295-514FDE737AA4}" type="datetimeFigureOut">
              <a:rPr lang="en-IN" smtClean="0"/>
              <a:t>15-10-2024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361166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D2EB49-6016-4F35-B295-514FDE737AA4}" type="datetimeFigureOut">
              <a:rPr lang="en-IN" smtClean="0"/>
              <a:t>15-10-2024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3124627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D2EB49-6016-4F35-B295-514FDE737AA4}" type="datetimeFigureOut">
              <a:rPr lang="en-IN" smtClean="0"/>
              <a:t>15-10-2024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F5F4DC-E98C-4207-9DD4-92D51782C7C1}" type="slidenum">
              <a:rPr lang="en-IN" smtClean="0"/>
              <a:t>‹#›</a:t>
            </a:fld>
            <a:endParaRPr lang="en-IN"/>
          </a:p>
        </p:txBody>
      </p:sp>
    </p:spTree>
    <p:extLst>
      <p:ext uri="{BB962C8B-B14F-4D97-AF65-F5344CB8AC3E}">
        <p14:creationId xmlns:p14="http://schemas.microsoft.com/office/powerpoint/2010/main" val="2467036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EB49-6016-4F35-B295-514FDE737AA4}" type="datetimeFigureOut">
              <a:rPr lang="en-IN" smtClean="0"/>
              <a:t>15-10-2024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F5F4DC-E98C-4207-9DD4-92D51782C7C1}" type="slidenum">
              <a:rPr lang="en-IN" smtClean="0"/>
              <a:t>‹#›</a:t>
            </a:fld>
            <a:endParaRPr lang="en-IN"/>
          </a:p>
        </p:txBody>
      </p:sp>
    </p:spTree>
    <p:extLst>
      <p:ext uri="{BB962C8B-B14F-4D97-AF65-F5344CB8AC3E}">
        <p14:creationId xmlns:p14="http://schemas.microsoft.com/office/powerpoint/2010/main" val="1132224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500697"/>
          </a:xfrm>
        </p:spPr>
        <p:txBody>
          <a:bodyPr>
            <a:normAutofit fontScale="90000"/>
          </a:bodyPr>
          <a:lstStyle/>
          <a:p>
            <a:r>
              <a:rPr lang="en-US" dirty="0" smtClean="0"/>
              <a:t>Event Handling in React</a:t>
            </a:r>
            <a:endParaRPr lang="en-IN" dirty="0"/>
          </a:p>
        </p:txBody>
      </p:sp>
      <p:sp>
        <p:nvSpPr>
          <p:cNvPr id="3" name="Subtitle 2"/>
          <p:cNvSpPr>
            <a:spLocks noGrp="1"/>
          </p:cNvSpPr>
          <p:nvPr>
            <p:ph type="subTitle" idx="1"/>
          </p:nvPr>
        </p:nvSpPr>
        <p:spPr>
          <a:xfrm>
            <a:off x="1649730" y="1760220"/>
            <a:ext cx="9144000" cy="4583430"/>
          </a:xfrm>
        </p:spPr>
        <p:txBody>
          <a:bodyPr>
            <a:normAutofit fontScale="40000" lnSpcReduction="20000"/>
          </a:bodyPr>
          <a:lstStyle/>
          <a:p>
            <a:pPr algn="l">
              <a:lnSpc>
                <a:spcPct val="170000"/>
              </a:lnSpc>
            </a:pPr>
            <a:r>
              <a:rPr lang="en-IN" sz="3200" dirty="0">
                <a:latin typeface="Times New Roman" panose="02020603050405020304" pitchFamily="18" charset="0"/>
                <a:cs typeface="Times New Roman" panose="02020603050405020304" pitchFamily="18" charset="0"/>
              </a:rPr>
              <a:t>In React, various types of events are used to interact with user actions or system events. These events are normalized across browsers through </a:t>
            </a:r>
            <a:r>
              <a:rPr lang="en-IN" sz="3200" dirty="0" err="1">
                <a:latin typeface="Times New Roman" panose="02020603050405020304" pitchFamily="18" charset="0"/>
                <a:cs typeface="Times New Roman" panose="02020603050405020304" pitchFamily="18" charset="0"/>
              </a:rPr>
              <a:t>React's</a:t>
            </a:r>
            <a:r>
              <a:rPr lang="en-IN" sz="3200" dirty="0">
                <a:latin typeface="Times New Roman" panose="02020603050405020304" pitchFamily="18" charset="0"/>
                <a:cs typeface="Times New Roman" panose="02020603050405020304" pitchFamily="18" charset="0"/>
              </a:rPr>
              <a:t> </a:t>
            </a:r>
            <a:r>
              <a:rPr lang="en-IN" sz="3200" b="1" dirty="0" err="1">
                <a:latin typeface="Times New Roman" panose="02020603050405020304" pitchFamily="18" charset="0"/>
                <a:cs typeface="Times New Roman" panose="02020603050405020304" pitchFamily="18" charset="0"/>
              </a:rPr>
              <a:t>SyntheticEvent</a:t>
            </a:r>
            <a:r>
              <a:rPr lang="en-IN" sz="3200" dirty="0">
                <a:latin typeface="Times New Roman" panose="02020603050405020304" pitchFamily="18" charset="0"/>
                <a:cs typeface="Times New Roman" panose="02020603050405020304" pitchFamily="18" charset="0"/>
              </a:rPr>
              <a:t> system. They can be broadly categorized into several types based on the kind of interaction.</a:t>
            </a:r>
          </a:p>
          <a:p>
            <a:pPr algn="l"/>
            <a:r>
              <a:rPr lang="en-IN" sz="3200" b="1" dirty="0">
                <a:latin typeface="Times New Roman" panose="02020603050405020304" pitchFamily="18" charset="0"/>
                <a:cs typeface="Times New Roman" panose="02020603050405020304" pitchFamily="18" charset="0"/>
              </a:rPr>
              <a:t>1. </a:t>
            </a:r>
            <a:r>
              <a:rPr lang="en-IN" sz="3200" dirty="0">
                <a:latin typeface="Times New Roman" panose="02020603050405020304" pitchFamily="18" charset="0"/>
                <a:cs typeface="Times New Roman" panose="02020603050405020304" pitchFamily="18" charset="0"/>
              </a:rPr>
              <a:t>Mouse Events</a:t>
            </a:r>
            <a:endParaRPr lang="en-IN" sz="3200" b="1" dirty="0">
              <a:latin typeface="Times New Roman" panose="02020603050405020304" pitchFamily="18" charset="0"/>
              <a:cs typeface="Times New Roman" panose="02020603050405020304" pitchFamily="18" charset="0"/>
            </a:endParaRPr>
          </a:p>
          <a:p>
            <a:pPr algn="l"/>
            <a:r>
              <a:rPr lang="en-IN" sz="3200" dirty="0">
                <a:latin typeface="Times New Roman" panose="02020603050405020304" pitchFamily="18" charset="0"/>
                <a:cs typeface="Times New Roman" panose="02020603050405020304" pitchFamily="18" charset="0"/>
              </a:rPr>
              <a:t>Mouse events are triggered by user interactions with the mouse (clicking, hovering, etc.).</a:t>
            </a:r>
          </a:p>
          <a:p>
            <a:pPr lvl="0" algn="l"/>
            <a:r>
              <a:rPr lang="en-IN" sz="3200" b="1" dirty="0" err="1">
                <a:latin typeface="Times New Roman" panose="02020603050405020304" pitchFamily="18" charset="0"/>
                <a:cs typeface="Times New Roman" panose="02020603050405020304" pitchFamily="18" charset="0"/>
              </a:rPr>
              <a:t>onClick</a:t>
            </a:r>
            <a:r>
              <a:rPr lang="en-IN" sz="3200" dirty="0">
                <a:latin typeface="Times New Roman" panose="02020603050405020304" pitchFamily="18" charset="0"/>
                <a:cs typeface="Times New Roman" panose="02020603050405020304" pitchFamily="18" charset="0"/>
              </a:rPr>
              <a:t>: Fired when an element is clicked.</a:t>
            </a:r>
          </a:p>
          <a:p>
            <a:pPr lvl="0" algn="l"/>
            <a:r>
              <a:rPr lang="en-IN" sz="3200" b="1" dirty="0" err="1">
                <a:latin typeface="Times New Roman" panose="02020603050405020304" pitchFamily="18" charset="0"/>
                <a:cs typeface="Times New Roman" panose="02020603050405020304" pitchFamily="18" charset="0"/>
              </a:rPr>
              <a:t>onDoubleClick</a:t>
            </a:r>
            <a:r>
              <a:rPr lang="en-IN" sz="3200" dirty="0">
                <a:latin typeface="Times New Roman" panose="02020603050405020304" pitchFamily="18" charset="0"/>
                <a:cs typeface="Times New Roman" panose="02020603050405020304" pitchFamily="18" charset="0"/>
              </a:rPr>
              <a:t>: Fired when an element is double-clicked.</a:t>
            </a:r>
          </a:p>
          <a:p>
            <a:pPr lvl="0" algn="l"/>
            <a:r>
              <a:rPr lang="en-IN" sz="3200" b="1" dirty="0" err="1">
                <a:latin typeface="Times New Roman" panose="02020603050405020304" pitchFamily="18" charset="0"/>
                <a:cs typeface="Times New Roman" panose="02020603050405020304" pitchFamily="18" charset="0"/>
              </a:rPr>
              <a:t>onMouseDown</a:t>
            </a:r>
            <a:r>
              <a:rPr lang="en-IN" sz="3200" dirty="0">
                <a:latin typeface="Times New Roman" panose="02020603050405020304" pitchFamily="18" charset="0"/>
                <a:cs typeface="Times New Roman" panose="02020603050405020304" pitchFamily="18" charset="0"/>
              </a:rPr>
              <a:t>: Fired when the mouse button is pressed down.</a:t>
            </a:r>
          </a:p>
          <a:p>
            <a:pPr lvl="0" algn="l"/>
            <a:r>
              <a:rPr lang="en-IN" sz="3200" b="1" dirty="0" err="1">
                <a:latin typeface="Times New Roman" panose="02020603050405020304" pitchFamily="18" charset="0"/>
                <a:cs typeface="Times New Roman" panose="02020603050405020304" pitchFamily="18" charset="0"/>
              </a:rPr>
              <a:t>onMouseUp</a:t>
            </a:r>
            <a:r>
              <a:rPr lang="en-IN" sz="3200" dirty="0">
                <a:latin typeface="Times New Roman" panose="02020603050405020304" pitchFamily="18" charset="0"/>
                <a:cs typeface="Times New Roman" panose="02020603050405020304" pitchFamily="18" charset="0"/>
              </a:rPr>
              <a:t>: Fired when the mouse button is released.</a:t>
            </a:r>
          </a:p>
          <a:p>
            <a:pPr lvl="0" algn="l"/>
            <a:r>
              <a:rPr lang="en-IN" sz="3200" b="1" dirty="0" err="1">
                <a:latin typeface="Times New Roman" panose="02020603050405020304" pitchFamily="18" charset="0"/>
                <a:cs typeface="Times New Roman" panose="02020603050405020304" pitchFamily="18" charset="0"/>
              </a:rPr>
              <a:t>onMouseMove</a:t>
            </a:r>
            <a:r>
              <a:rPr lang="en-IN" sz="3200" dirty="0">
                <a:latin typeface="Times New Roman" panose="02020603050405020304" pitchFamily="18" charset="0"/>
                <a:cs typeface="Times New Roman" panose="02020603050405020304" pitchFamily="18" charset="0"/>
              </a:rPr>
              <a:t>: Fired when the mouse pointer is moving over an element.</a:t>
            </a:r>
          </a:p>
          <a:p>
            <a:pPr lvl="0" algn="l"/>
            <a:r>
              <a:rPr lang="en-IN" sz="3200" b="1" dirty="0" err="1">
                <a:latin typeface="Times New Roman" panose="02020603050405020304" pitchFamily="18" charset="0"/>
                <a:cs typeface="Times New Roman" panose="02020603050405020304" pitchFamily="18" charset="0"/>
              </a:rPr>
              <a:t>onMouseEnter</a:t>
            </a:r>
            <a:r>
              <a:rPr lang="en-IN" sz="3200" dirty="0">
                <a:latin typeface="Times New Roman" panose="02020603050405020304" pitchFamily="18" charset="0"/>
                <a:cs typeface="Times New Roman" panose="02020603050405020304" pitchFamily="18" charset="0"/>
              </a:rPr>
              <a:t>: Fired when the mouse pointer enters an element.</a:t>
            </a:r>
          </a:p>
          <a:p>
            <a:pPr lvl="0" algn="l"/>
            <a:r>
              <a:rPr lang="en-IN" sz="3200" b="1" dirty="0" err="1">
                <a:latin typeface="Times New Roman" panose="02020603050405020304" pitchFamily="18" charset="0"/>
                <a:cs typeface="Times New Roman" panose="02020603050405020304" pitchFamily="18" charset="0"/>
              </a:rPr>
              <a:t>onMouseLeave</a:t>
            </a:r>
            <a:r>
              <a:rPr lang="en-IN" sz="3200" dirty="0">
                <a:latin typeface="Times New Roman" panose="02020603050405020304" pitchFamily="18" charset="0"/>
                <a:cs typeface="Times New Roman" panose="02020603050405020304" pitchFamily="18" charset="0"/>
              </a:rPr>
              <a:t>: Fired when the mouse pointer leaves an element.</a:t>
            </a:r>
          </a:p>
          <a:p>
            <a:pPr lvl="0" algn="l"/>
            <a:r>
              <a:rPr lang="en-IN" sz="3200" b="1" dirty="0" err="1">
                <a:latin typeface="Times New Roman" panose="02020603050405020304" pitchFamily="18" charset="0"/>
                <a:cs typeface="Times New Roman" panose="02020603050405020304" pitchFamily="18" charset="0"/>
              </a:rPr>
              <a:t>onMouseOver</a:t>
            </a:r>
            <a:r>
              <a:rPr lang="en-IN" sz="3200" dirty="0">
                <a:latin typeface="Times New Roman" panose="02020603050405020304" pitchFamily="18" charset="0"/>
                <a:cs typeface="Times New Roman" panose="02020603050405020304" pitchFamily="18" charset="0"/>
              </a:rPr>
              <a:t>: Fired when the mouse pointer is moved onto an element or its child elements.</a:t>
            </a:r>
          </a:p>
          <a:p>
            <a:pPr lvl="0" algn="l"/>
            <a:r>
              <a:rPr lang="en-IN" sz="3200" b="1" dirty="0" err="1">
                <a:latin typeface="Times New Roman" panose="02020603050405020304" pitchFamily="18" charset="0"/>
                <a:cs typeface="Times New Roman" panose="02020603050405020304" pitchFamily="18" charset="0"/>
              </a:rPr>
              <a:t>onMouseOut</a:t>
            </a:r>
            <a:r>
              <a:rPr lang="en-IN" sz="3200" dirty="0">
                <a:latin typeface="Times New Roman" panose="02020603050405020304" pitchFamily="18" charset="0"/>
                <a:cs typeface="Times New Roman" panose="02020603050405020304" pitchFamily="18" charset="0"/>
              </a:rPr>
              <a:t>: Fired when the mouse pointer is moved off an element or its child elements.</a:t>
            </a:r>
          </a:p>
          <a:p>
            <a:pPr algn="l"/>
            <a:r>
              <a:rPr lang="en-IN" sz="3200" dirty="0">
                <a:latin typeface="Times New Roman" panose="02020603050405020304" pitchFamily="18" charset="0"/>
                <a:cs typeface="Times New Roman" panose="02020603050405020304" pitchFamily="18" charset="0"/>
              </a:rPr>
              <a:t>Example:-</a:t>
            </a:r>
          </a:p>
          <a:p>
            <a:pPr algn="l"/>
            <a:r>
              <a:rPr lang="en-IN" sz="3200" dirty="0">
                <a:latin typeface="Times New Roman" panose="02020603050405020304" pitchFamily="18" charset="0"/>
                <a:cs typeface="Times New Roman" panose="02020603050405020304" pitchFamily="18" charset="0"/>
              </a:rPr>
              <a:t>&lt;button </a:t>
            </a:r>
            <a:r>
              <a:rPr lang="en-IN" sz="3200" dirty="0" err="1">
                <a:latin typeface="Times New Roman" panose="02020603050405020304" pitchFamily="18" charset="0"/>
                <a:cs typeface="Times New Roman" panose="02020603050405020304" pitchFamily="18" charset="0"/>
              </a:rPr>
              <a:t>onClick</a:t>
            </a:r>
            <a:r>
              <a:rPr lang="en-IN" sz="3200" dirty="0">
                <a:latin typeface="Times New Roman" panose="02020603050405020304" pitchFamily="18" charset="0"/>
                <a:cs typeface="Times New Roman" panose="02020603050405020304" pitchFamily="18" charset="0"/>
              </a:rPr>
              <a:t>={() =&gt; alert('Button clicked!')}&gt;Click Me&lt;/button&gt;</a:t>
            </a:r>
          </a:p>
          <a:p>
            <a:pPr algn="l"/>
            <a:endParaRPr lang="en-IN" dirty="0"/>
          </a:p>
        </p:txBody>
      </p:sp>
    </p:spTree>
    <p:extLst>
      <p:ext uri="{BB962C8B-B14F-4D97-AF65-F5344CB8AC3E}">
        <p14:creationId xmlns:p14="http://schemas.microsoft.com/office/powerpoint/2010/main" val="1497423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2175"/>
          </a:xfrm>
        </p:spPr>
        <p:txBody>
          <a:bodyPr/>
          <a:lstStyle/>
          <a:p>
            <a:r>
              <a:rPr lang="en-IN" b="1" dirty="0"/>
              <a:t>2. Keyboard </a:t>
            </a:r>
            <a:r>
              <a:rPr lang="en-IN" b="1" dirty="0" smtClean="0"/>
              <a:t>Events</a:t>
            </a:r>
            <a:endParaRPr lang="en-IN" dirty="0"/>
          </a:p>
        </p:txBody>
      </p:sp>
      <p:sp>
        <p:nvSpPr>
          <p:cNvPr id="3" name="Content Placeholder 2"/>
          <p:cNvSpPr>
            <a:spLocks noGrp="1"/>
          </p:cNvSpPr>
          <p:nvPr>
            <p:ph idx="1"/>
          </p:nvPr>
        </p:nvSpPr>
        <p:spPr>
          <a:xfrm>
            <a:off x="838200" y="1440180"/>
            <a:ext cx="10515600" cy="4736783"/>
          </a:xfrm>
        </p:spPr>
        <p:txBody>
          <a:bodyPr/>
          <a:lstStyle/>
          <a:p>
            <a:pPr marL="0" indent="0">
              <a:buNone/>
            </a:pPr>
            <a:r>
              <a:rPr lang="en-IN" dirty="0"/>
              <a:t>Keyboard events are triggered when users interact with the keyboard.</a:t>
            </a:r>
          </a:p>
          <a:p>
            <a:pPr marL="0" lvl="0" indent="0">
              <a:buNone/>
            </a:pPr>
            <a:r>
              <a:rPr lang="en-IN" b="1" dirty="0" err="1"/>
              <a:t>onKeyDown</a:t>
            </a:r>
            <a:r>
              <a:rPr lang="en-IN" dirty="0"/>
              <a:t>: Fired when a key is pressed down.</a:t>
            </a:r>
          </a:p>
          <a:p>
            <a:pPr marL="0" lvl="0" indent="0">
              <a:buNone/>
            </a:pPr>
            <a:r>
              <a:rPr lang="en-IN" b="1" dirty="0" err="1"/>
              <a:t>onKeyPress</a:t>
            </a:r>
            <a:r>
              <a:rPr lang="en-IN" dirty="0"/>
              <a:t>: Fired when a key that produces a character value is pressed.</a:t>
            </a:r>
          </a:p>
          <a:p>
            <a:pPr marL="0" lvl="0" indent="0">
              <a:buNone/>
            </a:pPr>
            <a:r>
              <a:rPr lang="en-IN" b="1" dirty="0" err="1"/>
              <a:t>onKeyUp</a:t>
            </a:r>
            <a:r>
              <a:rPr lang="en-IN" dirty="0"/>
              <a:t>: Fired when a key is released</a:t>
            </a:r>
            <a:r>
              <a:rPr lang="en-IN" dirty="0" smtClean="0"/>
              <a:t>.</a:t>
            </a:r>
          </a:p>
          <a:p>
            <a:pPr marL="0" lvl="0" indent="0">
              <a:buNone/>
            </a:pPr>
            <a:r>
              <a:rPr lang="en-US" dirty="0" smtClean="0"/>
              <a:t>Example:-</a:t>
            </a:r>
            <a:endParaRPr lang="en-IN" dirty="0"/>
          </a:p>
          <a:p>
            <a:pPr marL="0" indent="0">
              <a:buNone/>
            </a:pPr>
            <a:r>
              <a:rPr lang="en-IN" dirty="0"/>
              <a:t>&lt;input </a:t>
            </a:r>
            <a:r>
              <a:rPr lang="en-IN" dirty="0" err="1"/>
              <a:t>onKeyDown</a:t>
            </a:r>
            <a:r>
              <a:rPr lang="en-IN" dirty="0"/>
              <a:t>={(e) =&gt; console.log(`Key pressed: ${</a:t>
            </a:r>
            <a:r>
              <a:rPr lang="en-IN" dirty="0" err="1"/>
              <a:t>e.key</a:t>
            </a:r>
            <a:r>
              <a:rPr lang="en-IN" dirty="0"/>
              <a:t>}`)} /&gt;</a:t>
            </a:r>
          </a:p>
          <a:p>
            <a:pPr marL="0" indent="0">
              <a:buNone/>
            </a:pPr>
            <a:endParaRPr lang="en-IN" dirty="0"/>
          </a:p>
        </p:txBody>
      </p:sp>
    </p:spTree>
    <p:extLst>
      <p:ext uri="{BB962C8B-B14F-4D97-AF65-F5344CB8AC3E}">
        <p14:creationId xmlns:p14="http://schemas.microsoft.com/office/powerpoint/2010/main" val="899687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2145"/>
          </a:xfrm>
        </p:spPr>
        <p:txBody>
          <a:bodyPr>
            <a:normAutofit fontScale="90000"/>
          </a:bodyPr>
          <a:lstStyle/>
          <a:p>
            <a:r>
              <a:rPr lang="en-IN" b="1" dirty="0"/>
              <a:t>3. Form </a:t>
            </a:r>
            <a:r>
              <a:rPr lang="en-IN" b="1" dirty="0" smtClean="0"/>
              <a:t>Events</a:t>
            </a:r>
            <a:endParaRPr lang="en-IN" dirty="0"/>
          </a:p>
        </p:txBody>
      </p:sp>
      <p:sp>
        <p:nvSpPr>
          <p:cNvPr id="3" name="Content Placeholder 2"/>
          <p:cNvSpPr>
            <a:spLocks noGrp="1"/>
          </p:cNvSpPr>
          <p:nvPr>
            <p:ph idx="1"/>
          </p:nvPr>
        </p:nvSpPr>
        <p:spPr>
          <a:xfrm>
            <a:off x="838200" y="1143000"/>
            <a:ext cx="10515600" cy="5033963"/>
          </a:xfrm>
        </p:spPr>
        <p:txBody>
          <a:bodyPr>
            <a:normAutofit fontScale="85000" lnSpcReduction="20000"/>
          </a:bodyPr>
          <a:lstStyle/>
          <a:p>
            <a:pPr marL="0" indent="0">
              <a:buNone/>
            </a:pPr>
            <a:r>
              <a:rPr lang="en-IN" dirty="0"/>
              <a:t>These events handle user interactions with forms and their elements like input fields, text areas, etc.</a:t>
            </a:r>
          </a:p>
          <a:p>
            <a:pPr marL="0" lvl="0" indent="0">
              <a:buNone/>
            </a:pPr>
            <a:r>
              <a:rPr lang="en-IN" b="1" dirty="0" err="1"/>
              <a:t>onChange</a:t>
            </a:r>
            <a:r>
              <a:rPr lang="en-IN" dirty="0"/>
              <a:t>: Fired when the value of an input element changes (used for inputs, </a:t>
            </a:r>
            <a:r>
              <a:rPr lang="en-IN" dirty="0" err="1"/>
              <a:t>textareas</a:t>
            </a:r>
            <a:r>
              <a:rPr lang="en-IN" dirty="0"/>
              <a:t>, select elements).</a:t>
            </a:r>
          </a:p>
          <a:p>
            <a:pPr marL="0" lvl="0" indent="0">
              <a:buNone/>
            </a:pPr>
            <a:r>
              <a:rPr lang="en-IN" b="1" dirty="0" err="1"/>
              <a:t>onInput</a:t>
            </a:r>
            <a:r>
              <a:rPr lang="en-IN" dirty="0"/>
              <a:t>: Fired when an element receives user input (generally for input elements).</a:t>
            </a:r>
          </a:p>
          <a:p>
            <a:pPr marL="0" lvl="0" indent="0">
              <a:buNone/>
            </a:pPr>
            <a:r>
              <a:rPr lang="en-IN" b="1" dirty="0" err="1"/>
              <a:t>onSubmit</a:t>
            </a:r>
            <a:r>
              <a:rPr lang="en-IN" dirty="0"/>
              <a:t>: Fired when a form is submitted.</a:t>
            </a:r>
          </a:p>
          <a:p>
            <a:pPr marL="0" lvl="0" indent="0">
              <a:buNone/>
            </a:pPr>
            <a:r>
              <a:rPr lang="en-IN" b="1" dirty="0" err="1"/>
              <a:t>onReset</a:t>
            </a:r>
            <a:r>
              <a:rPr lang="en-IN" dirty="0"/>
              <a:t>: Fired when a form is reset.</a:t>
            </a:r>
          </a:p>
          <a:p>
            <a:pPr marL="0" lvl="0" indent="0">
              <a:buNone/>
            </a:pPr>
            <a:r>
              <a:rPr lang="en-IN" b="1" dirty="0" err="1"/>
              <a:t>onInvalid</a:t>
            </a:r>
            <a:r>
              <a:rPr lang="en-IN" dirty="0"/>
              <a:t>: Fired when a form element is invalid.</a:t>
            </a:r>
          </a:p>
          <a:p>
            <a:pPr marL="0" indent="0">
              <a:buNone/>
            </a:pPr>
            <a:r>
              <a:rPr lang="en-IN" dirty="0"/>
              <a:t>Example: </a:t>
            </a:r>
            <a:endParaRPr lang="en-IN" dirty="0" smtClean="0"/>
          </a:p>
          <a:p>
            <a:pPr marL="0" indent="0">
              <a:buNone/>
            </a:pPr>
            <a:r>
              <a:rPr lang="en-IN" dirty="0" smtClean="0"/>
              <a:t>&lt;</a:t>
            </a:r>
            <a:r>
              <a:rPr lang="en-IN" dirty="0"/>
              <a:t>form </a:t>
            </a:r>
            <a:r>
              <a:rPr lang="en-IN" dirty="0" err="1"/>
              <a:t>onSubmit</a:t>
            </a:r>
            <a:r>
              <a:rPr lang="en-IN" dirty="0"/>
              <a:t>={(e) =&gt; { </a:t>
            </a:r>
            <a:r>
              <a:rPr lang="en-IN" dirty="0" err="1"/>
              <a:t>e.preventDefault</a:t>
            </a:r>
            <a:r>
              <a:rPr lang="en-IN" dirty="0"/>
              <a:t>(); alert('Form submitted!'); }}&gt;</a:t>
            </a:r>
          </a:p>
          <a:p>
            <a:pPr marL="0" indent="0">
              <a:buNone/>
            </a:pPr>
            <a:r>
              <a:rPr lang="en-IN" dirty="0"/>
              <a:t>  &lt;input type="text" </a:t>
            </a:r>
            <a:r>
              <a:rPr lang="en-IN" dirty="0" err="1"/>
              <a:t>onChange</a:t>
            </a:r>
            <a:r>
              <a:rPr lang="en-IN" dirty="0"/>
              <a:t>={(e) =&gt; console.log(</a:t>
            </a:r>
            <a:r>
              <a:rPr lang="en-IN" dirty="0" err="1"/>
              <a:t>e.target.value</a:t>
            </a:r>
            <a:r>
              <a:rPr lang="en-IN" dirty="0"/>
              <a:t>)} /&gt;</a:t>
            </a:r>
          </a:p>
          <a:p>
            <a:pPr marL="0" indent="0">
              <a:buNone/>
            </a:pPr>
            <a:r>
              <a:rPr lang="en-IN" dirty="0"/>
              <a:t>  &lt;button type="submit"&gt;Submit&lt;/button&gt;</a:t>
            </a:r>
          </a:p>
          <a:p>
            <a:pPr marL="0" indent="0">
              <a:buNone/>
            </a:pPr>
            <a:r>
              <a:rPr lang="en-IN" dirty="0"/>
              <a:t>&lt;/form&gt;</a:t>
            </a:r>
          </a:p>
          <a:p>
            <a:pPr marL="0" indent="0">
              <a:buNone/>
            </a:pPr>
            <a:endParaRPr lang="en-IN" dirty="0"/>
          </a:p>
        </p:txBody>
      </p:sp>
    </p:spTree>
    <p:extLst>
      <p:ext uri="{BB962C8B-B14F-4D97-AF65-F5344CB8AC3E}">
        <p14:creationId xmlns:p14="http://schemas.microsoft.com/office/powerpoint/2010/main" val="2842761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7885"/>
          </a:xfrm>
        </p:spPr>
        <p:txBody>
          <a:bodyPr/>
          <a:lstStyle/>
          <a:p>
            <a:r>
              <a:rPr lang="en-IN" b="1" dirty="0"/>
              <a:t>4. Focus </a:t>
            </a:r>
            <a:r>
              <a:rPr lang="en-IN" b="1" dirty="0" smtClean="0"/>
              <a:t>Events</a:t>
            </a:r>
            <a:endParaRPr lang="en-IN" dirty="0"/>
          </a:p>
        </p:txBody>
      </p:sp>
      <p:sp>
        <p:nvSpPr>
          <p:cNvPr id="3" name="Content Placeholder 2"/>
          <p:cNvSpPr>
            <a:spLocks noGrp="1"/>
          </p:cNvSpPr>
          <p:nvPr>
            <p:ph idx="1"/>
          </p:nvPr>
        </p:nvSpPr>
        <p:spPr/>
        <p:txBody>
          <a:bodyPr/>
          <a:lstStyle/>
          <a:p>
            <a:pPr marL="0" indent="0">
              <a:buNone/>
            </a:pPr>
            <a:r>
              <a:rPr lang="en-IN" dirty="0"/>
              <a:t>Focus events are triggered when an element gains or loses focus.</a:t>
            </a:r>
          </a:p>
          <a:p>
            <a:pPr marL="0" lvl="0" indent="0">
              <a:buNone/>
            </a:pPr>
            <a:r>
              <a:rPr lang="en-IN" b="1" dirty="0" err="1"/>
              <a:t>onFocus</a:t>
            </a:r>
            <a:r>
              <a:rPr lang="en-IN" dirty="0"/>
              <a:t>: Fired when an element gains focus.</a:t>
            </a:r>
          </a:p>
          <a:p>
            <a:pPr marL="0" lvl="0" indent="0">
              <a:buNone/>
            </a:pPr>
            <a:r>
              <a:rPr lang="en-IN" b="1" dirty="0" err="1"/>
              <a:t>onBlur</a:t>
            </a:r>
            <a:r>
              <a:rPr lang="en-IN" dirty="0"/>
              <a:t>: Fired when an element loses focus.</a:t>
            </a:r>
          </a:p>
          <a:p>
            <a:pPr marL="0" indent="0">
              <a:buNone/>
            </a:pPr>
            <a:r>
              <a:rPr lang="en-IN" dirty="0"/>
              <a:t>Example:- &lt;input </a:t>
            </a:r>
            <a:r>
              <a:rPr lang="en-IN" dirty="0" err="1"/>
              <a:t>onFocus</a:t>
            </a:r>
            <a:r>
              <a:rPr lang="en-IN" dirty="0"/>
              <a:t>={() =&gt; console.log('Input focused')} </a:t>
            </a:r>
            <a:r>
              <a:rPr lang="en-IN" dirty="0" err="1"/>
              <a:t>onBlur</a:t>
            </a:r>
            <a:r>
              <a:rPr lang="en-IN" dirty="0"/>
              <a:t>={() =&gt; console.log('Input blurred')} /&gt;</a:t>
            </a:r>
          </a:p>
          <a:p>
            <a:pPr marL="0" indent="0">
              <a:buNone/>
            </a:pPr>
            <a:endParaRPr lang="en-IN" dirty="0"/>
          </a:p>
        </p:txBody>
      </p:sp>
    </p:spTree>
    <p:extLst>
      <p:ext uri="{BB962C8B-B14F-4D97-AF65-F5344CB8AC3E}">
        <p14:creationId xmlns:p14="http://schemas.microsoft.com/office/powerpoint/2010/main" val="2375190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3585"/>
          </a:xfrm>
        </p:spPr>
        <p:txBody>
          <a:bodyPr/>
          <a:lstStyle/>
          <a:p>
            <a:r>
              <a:rPr lang="en-IN" b="1" dirty="0"/>
              <a:t>5. Touch </a:t>
            </a:r>
            <a:r>
              <a:rPr lang="en-IN" b="1" dirty="0" smtClean="0"/>
              <a:t>Events</a:t>
            </a:r>
            <a:endParaRPr lang="en-IN" dirty="0"/>
          </a:p>
        </p:txBody>
      </p:sp>
      <p:sp>
        <p:nvSpPr>
          <p:cNvPr id="3" name="Content Placeholder 2"/>
          <p:cNvSpPr>
            <a:spLocks noGrp="1"/>
          </p:cNvSpPr>
          <p:nvPr>
            <p:ph idx="1"/>
          </p:nvPr>
        </p:nvSpPr>
        <p:spPr>
          <a:xfrm>
            <a:off x="838200" y="1257300"/>
            <a:ext cx="10515600" cy="4919663"/>
          </a:xfrm>
        </p:spPr>
        <p:txBody>
          <a:bodyPr>
            <a:normAutofit/>
          </a:bodyPr>
          <a:lstStyle/>
          <a:p>
            <a:pPr marL="0" indent="0">
              <a:buNone/>
            </a:pPr>
            <a:r>
              <a:rPr lang="en-IN" dirty="0"/>
              <a:t>Touch events are triggered by touch-screen interactions (on mobile devices).</a:t>
            </a:r>
          </a:p>
          <a:p>
            <a:pPr marL="0" lvl="0" indent="0">
              <a:buNone/>
            </a:pPr>
            <a:r>
              <a:rPr lang="en-IN" b="1" dirty="0" err="1"/>
              <a:t>onTouchStart</a:t>
            </a:r>
            <a:r>
              <a:rPr lang="en-IN" dirty="0"/>
              <a:t>: Fired when a touch point is placed on the touch surface.</a:t>
            </a:r>
          </a:p>
          <a:p>
            <a:pPr marL="0" lvl="0" indent="0">
              <a:buNone/>
            </a:pPr>
            <a:r>
              <a:rPr lang="en-IN" b="1" dirty="0" err="1"/>
              <a:t>onTouchMove</a:t>
            </a:r>
            <a:r>
              <a:rPr lang="en-IN" dirty="0"/>
              <a:t>: Fired when a touch point is moved along the touch surface.</a:t>
            </a:r>
          </a:p>
          <a:p>
            <a:pPr marL="0" lvl="0" indent="0">
              <a:buNone/>
            </a:pPr>
            <a:r>
              <a:rPr lang="en-IN" b="1" dirty="0" err="1"/>
              <a:t>onTouchEnd</a:t>
            </a:r>
            <a:r>
              <a:rPr lang="en-IN" dirty="0"/>
              <a:t>: Fired when a touch point is removed from the touch surface.</a:t>
            </a:r>
          </a:p>
          <a:p>
            <a:pPr marL="0" lvl="0" indent="0">
              <a:buNone/>
            </a:pPr>
            <a:r>
              <a:rPr lang="en-IN" b="1" dirty="0" err="1"/>
              <a:t>onTouchCancel</a:t>
            </a:r>
            <a:r>
              <a:rPr lang="en-IN" dirty="0"/>
              <a:t>: Fired when a touch event is </a:t>
            </a:r>
            <a:r>
              <a:rPr lang="en-IN" dirty="0" err="1"/>
              <a:t>canceled</a:t>
            </a:r>
            <a:r>
              <a:rPr lang="en-IN" dirty="0"/>
              <a:t>.</a:t>
            </a:r>
          </a:p>
          <a:p>
            <a:pPr marL="0" indent="0">
              <a:buNone/>
            </a:pPr>
            <a:r>
              <a:rPr lang="en-IN" dirty="0"/>
              <a:t>Example:- &lt;div </a:t>
            </a:r>
            <a:r>
              <a:rPr lang="en-IN" dirty="0" err="1"/>
              <a:t>onTouchStart</a:t>
            </a:r>
            <a:r>
              <a:rPr lang="en-IN" dirty="0"/>
              <a:t>={() =&gt; console.log('Touched!')}&gt;Touch Me&lt;/div&gt;</a:t>
            </a:r>
          </a:p>
          <a:p>
            <a:pPr marL="0" indent="0">
              <a:buNone/>
            </a:pPr>
            <a:endParaRPr lang="en-IN" dirty="0"/>
          </a:p>
        </p:txBody>
      </p:sp>
    </p:spTree>
    <p:extLst>
      <p:ext uri="{BB962C8B-B14F-4D97-AF65-F5344CB8AC3E}">
        <p14:creationId xmlns:p14="http://schemas.microsoft.com/office/powerpoint/2010/main" val="2057387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745"/>
          </a:xfrm>
        </p:spPr>
        <p:txBody>
          <a:bodyPr/>
          <a:lstStyle/>
          <a:p>
            <a:r>
              <a:rPr lang="en-IN" b="1" dirty="0"/>
              <a:t>6. Clipboard </a:t>
            </a:r>
            <a:r>
              <a:rPr lang="en-IN" b="1" dirty="0" smtClean="0"/>
              <a:t>Events</a:t>
            </a:r>
            <a:endParaRPr lang="en-IN" dirty="0"/>
          </a:p>
        </p:txBody>
      </p:sp>
      <p:sp>
        <p:nvSpPr>
          <p:cNvPr id="3" name="Content Placeholder 2"/>
          <p:cNvSpPr>
            <a:spLocks noGrp="1"/>
          </p:cNvSpPr>
          <p:nvPr>
            <p:ph idx="1"/>
          </p:nvPr>
        </p:nvSpPr>
        <p:spPr>
          <a:xfrm>
            <a:off x="838200" y="1348740"/>
            <a:ext cx="10515600" cy="4828223"/>
          </a:xfrm>
        </p:spPr>
        <p:txBody>
          <a:bodyPr/>
          <a:lstStyle/>
          <a:p>
            <a:pPr marL="0" indent="0">
              <a:buNone/>
            </a:pPr>
            <a:r>
              <a:rPr lang="en-IN" dirty="0"/>
              <a:t>Clipboard events are triggered by actions related to the system clipboard, like copy, cut, and paste.</a:t>
            </a:r>
          </a:p>
          <a:p>
            <a:pPr marL="0" lvl="0" indent="0">
              <a:buNone/>
            </a:pPr>
            <a:r>
              <a:rPr lang="en-IN" b="1" dirty="0" err="1"/>
              <a:t>onCopy</a:t>
            </a:r>
            <a:r>
              <a:rPr lang="en-IN" dirty="0"/>
              <a:t>: Fired when content is copied.</a:t>
            </a:r>
          </a:p>
          <a:p>
            <a:pPr marL="0" lvl="0" indent="0">
              <a:buNone/>
            </a:pPr>
            <a:r>
              <a:rPr lang="en-IN" b="1" dirty="0" err="1"/>
              <a:t>onCut</a:t>
            </a:r>
            <a:r>
              <a:rPr lang="en-IN" dirty="0"/>
              <a:t>: Fired when content is cut.</a:t>
            </a:r>
          </a:p>
          <a:p>
            <a:pPr marL="0" lvl="0" indent="0">
              <a:buNone/>
            </a:pPr>
            <a:r>
              <a:rPr lang="en-IN" b="1" dirty="0" err="1"/>
              <a:t>onPaste</a:t>
            </a:r>
            <a:r>
              <a:rPr lang="en-IN" dirty="0"/>
              <a:t>: Fired when content is pasted.</a:t>
            </a:r>
          </a:p>
          <a:p>
            <a:pPr marL="0" indent="0">
              <a:buNone/>
            </a:pPr>
            <a:r>
              <a:rPr lang="en-IN" dirty="0"/>
              <a:t>Example:</a:t>
            </a:r>
          </a:p>
          <a:p>
            <a:pPr marL="0" indent="0">
              <a:buNone/>
            </a:pPr>
            <a:r>
              <a:rPr lang="en-IN" dirty="0"/>
              <a:t>&lt;</a:t>
            </a:r>
            <a:r>
              <a:rPr lang="en-IN" dirty="0" err="1"/>
              <a:t>textarea</a:t>
            </a:r>
            <a:r>
              <a:rPr lang="en-IN" dirty="0"/>
              <a:t> </a:t>
            </a:r>
            <a:r>
              <a:rPr lang="en-IN" dirty="0" err="1"/>
              <a:t>onCopy</a:t>
            </a:r>
            <a:r>
              <a:rPr lang="en-IN" dirty="0"/>
              <a:t>={() =&gt; console.log('Content copied!')}&gt;&lt;/</a:t>
            </a:r>
            <a:r>
              <a:rPr lang="en-IN" dirty="0" err="1"/>
              <a:t>textarea</a:t>
            </a:r>
            <a:r>
              <a:rPr lang="en-IN" dirty="0"/>
              <a:t>&gt;</a:t>
            </a:r>
          </a:p>
          <a:p>
            <a:pPr marL="0" indent="0">
              <a:buNone/>
            </a:pPr>
            <a:endParaRPr lang="en-IN" dirty="0"/>
          </a:p>
        </p:txBody>
      </p:sp>
    </p:spTree>
    <p:extLst>
      <p:ext uri="{BB962C8B-B14F-4D97-AF65-F5344CB8AC3E}">
        <p14:creationId xmlns:p14="http://schemas.microsoft.com/office/powerpoint/2010/main" val="1238388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3605"/>
          </a:xfrm>
        </p:spPr>
        <p:txBody>
          <a:bodyPr/>
          <a:lstStyle/>
          <a:p>
            <a:r>
              <a:rPr lang="en-IN" b="1" dirty="0"/>
              <a:t>7. Form Input </a:t>
            </a:r>
            <a:r>
              <a:rPr lang="en-IN" b="1" dirty="0" smtClean="0"/>
              <a:t>Events</a:t>
            </a:r>
            <a:endParaRPr lang="en-IN" dirty="0"/>
          </a:p>
        </p:txBody>
      </p:sp>
      <p:sp>
        <p:nvSpPr>
          <p:cNvPr id="3" name="Content Placeholder 2"/>
          <p:cNvSpPr>
            <a:spLocks noGrp="1"/>
          </p:cNvSpPr>
          <p:nvPr>
            <p:ph idx="1"/>
          </p:nvPr>
        </p:nvSpPr>
        <p:spPr>
          <a:xfrm>
            <a:off x="838200" y="1360170"/>
            <a:ext cx="10515600" cy="4816793"/>
          </a:xfrm>
        </p:spPr>
        <p:txBody>
          <a:bodyPr/>
          <a:lstStyle/>
          <a:p>
            <a:pPr marL="0" indent="0">
              <a:buNone/>
            </a:pPr>
            <a:r>
              <a:rPr lang="en-IN" dirty="0"/>
              <a:t>These events are specific to form controls and input handling.</a:t>
            </a:r>
          </a:p>
          <a:p>
            <a:pPr marL="0" lvl="0" indent="0">
              <a:buNone/>
            </a:pPr>
            <a:r>
              <a:rPr lang="en-IN" b="1" dirty="0" err="1"/>
              <a:t>onInput</a:t>
            </a:r>
            <a:r>
              <a:rPr lang="en-IN" dirty="0"/>
              <a:t>: Fired when the value of an input element changes.</a:t>
            </a:r>
          </a:p>
          <a:p>
            <a:pPr marL="0" lvl="0" indent="0">
              <a:buNone/>
            </a:pPr>
            <a:r>
              <a:rPr lang="en-IN" b="1" dirty="0" err="1"/>
              <a:t>onSelect</a:t>
            </a:r>
            <a:r>
              <a:rPr lang="en-IN" dirty="0"/>
              <a:t>: Fired when some text inside an input or </a:t>
            </a:r>
            <a:r>
              <a:rPr lang="en-IN" dirty="0" err="1"/>
              <a:t>textarea</a:t>
            </a:r>
            <a:r>
              <a:rPr lang="en-IN" dirty="0"/>
              <a:t> is selected.</a:t>
            </a:r>
          </a:p>
          <a:p>
            <a:pPr marL="0" indent="0">
              <a:buNone/>
            </a:pPr>
            <a:r>
              <a:rPr lang="en-IN" dirty="0"/>
              <a:t>Example:- &lt;</a:t>
            </a:r>
            <a:r>
              <a:rPr lang="en-IN" dirty="0" err="1"/>
              <a:t>textarea</a:t>
            </a:r>
            <a:r>
              <a:rPr lang="en-IN" dirty="0"/>
              <a:t> </a:t>
            </a:r>
            <a:r>
              <a:rPr lang="en-IN" dirty="0" err="1"/>
              <a:t>onSelect</a:t>
            </a:r>
            <a:r>
              <a:rPr lang="en-IN" dirty="0"/>
              <a:t>={(e) =&gt; console.log(</a:t>
            </a:r>
            <a:r>
              <a:rPr lang="en-IN" dirty="0" err="1"/>
              <a:t>e.target.value.substring</a:t>
            </a:r>
            <a:r>
              <a:rPr lang="en-IN" dirty="0"/>
              <a:t>(</a:t>
            </a:r>
            <a:r>
              <a:rPr lang="en-IN" dirty="0" err="1"/>
              <a:t>e.target.selectionStart</a:t>
            </a:r>
            <a:r>
              <a:rPr lang="en-IN" dirty="0"/>
              <a:t>, </a:t>
            </a:r>
            <a:r>
              <a:rPr lang="en-IN" dirty="0" err="1"/>
              <a:t>e.target.selectionEnd</a:t>
            </a:r>
            <a:r>
              <a:rPr lang="en-IN" dirty="0"/>
              <a:t>))}&gt;&lt;/</a:t>
            </a:r>
            <a:r>
              <a:rPr lang="en-IN" dirty="0" err="1"/>
              <a:t>textarea</a:t>
            </a:r>
            <a:r>
              <a:rPr lang="en-IN" dirty="0"/>
              <a:t>&gt;</a:t>
            </a:r>
          </a:p>
          <a:p>
            <a:pPr marL="0" indent="0">
              <a:buNone/>
            </a:pPr>
            <a:endParaRPr lang="en-IN" dirty="0"/>
          </a:p>
        </p:txBody>
      </p:sp>
    </p:spTree>
    <p:extLst>
      <p:ext uri="{BB962C8B-B14F-4D97-AF65-F5344CB8AC3E}">
        <p14:creationId xmlns:p14="http://schemas.microsoft.com/office/powerpoint/2010/main" val="187607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r>
              <a:rPr lang="en-IN" b="1" dirty="0"/>
              <a:t>8. Drag </a:t>
            </a:r>
            <a:r>
              <a:rPr lang="en-IN" b="1" dirty="0" smtClean="0"/>
              <a:t>Events</a:t>
            </a:r>
            <a:endParaRPr lang="en-IN" dirty="0"/>
          </a:p>
        </p:txBody>
      </p:sp>
      <p:sp>
        <p:nvSpPr>
          <p:cNvPr id="3" name="Content Placeholder 2"/>
          <p:cNvSpPr>
            <a:spLocks noGrp="1"/>
          </p:cNvSpPr>
          <p:nvPr>
            <p:ph idx="1"/>
          </p:nvPr>
        </p:nvSpPr>
        <p:spPr>
          <a:xfrm>
            <a:off x="838200" y="1280160"/>
            <a:ext cx="10515600" cy="4896803"/>
          </a:xfrm>
        </p:spPr>
        <p:txBody>
          <a:bodyPr/>
          <a:lstStyle/>
          <a:p>
            <a:pPr marL="0" indent="0">
              <a:buNone/>
            </a:pPr>
            <a:r>
              <a:rPr lang="en-IN" dirty="0"/>
              <a:t>Drag events are triggered when an element is dragged and dropped.</a:t>
            </a:r>
          </a:p>
          <a:p>
            <a:pPr marL="0" lvl="0" indent="0">
              <a:buNone/>
            </a:pPr>
            <a:r>
              <a:rPr lang="en-IN" b="1" dirty="0" err="1"/>
              <a:t>onDrag</a:t>
            </a:r>
            <a:r>
              <a:rPr lang="en-IN" dirty="0"/>
              <a:t>: Fired repeatedly while an element is being dragged.</a:t>
            </a:r>
          </a:p>
          <a:p>
            <a:pPr marL="0" lvl="0" indent="0">
              <a:buNone/>
            </a:pPr>
            <a:r>
              <a:rPr lang="en-IN" b="1" dirty="0" err="1"/>
              <a:t>onDragStart</a:t>
            </a:r>
            <a:r>
              <a:rPr lang="en-IN" dirty="0"/>
              <a:t>: Fired when the user starts dragging an element.</a:t>
            </a:r>
          </a:p>
          <a:p>
            <a:pPr marL="0" lvl="0" indent="0">
              <a:buNone/>
            </a:pPr>
            <a:r>
              <a:rPr lang="en-IN" b="1" dirty="0" err="1"/>
              <a:t>onDragEnd</a:t>
            </a:r>
            <a:r>
              <a:rPr lang="en-IN" dirty="0"/>
              <a:t>: Fired when the user finishes dragging an element.</a:t>
            </a:r>
          </a:p>
          <a:p>
            <a:pPr marL="0" lvl="0" indent="0">
              <a:buNone/>
            </a:pPr>
            <a:r>
              <a:rPr lang="en-IN" b="1" dirty="0" err="1"/>
              <a:t>onDragOver</a:t>
            </a:r>
            <a:r>
              <a:rPr lang="en-IN" dirty="0"/>
              <a:t>: Fired when a dragged element is over a valid drop target.</a:t>
            </a:r>
          </a:p>
          <a:p>
            <a:pPr marL="0" lvl="0" indent="0">
              <a:buNone/>
            </a:pPr>
            <a:r>
              <a:rPr lang="en-IN" b="1" dirty="0" err="1"/>
              <a:t>onDrop</a:t>
            </a:r>
            <a:r>
              <a:rPr lang="en-IN" dirty="0"/>
              <a:t>: Fired when an element is dropped on a valid drop target.</a:t>
            </a:r>
          </a:p>
          <a:p>
            <a:pPr marL="0" indent="0">
              <a:buNone/>
            </a:pPr>
            <a:r>
              <a:rPr lang="en-IN" dirty="0"/>
              <a:t>Example: &lt;div </a:t>
            </a:r>
            <a:r>
              <a:rPr lang="en-IN" dirty="0" err="1"/>
              <a:t>draggable</a:t>
            </a:r>
            <a:r>
              <a:rPr lang="en-IN" dirty="0"/>
              <a:t>="true" </a:t>
            </a:r>
            <a:r>
              <a:rPr lang="en-IN" dirty="0" err="1"/>
              <a:t>onDragStart</a:t>
            </a:r>
            <a:r>
              <a:rPr lang="en-IN" dirty="0"/>
              <a:t>={() =&gt; console.log('Drag started')}&gt;Drag Me&lt;/div&gt;</a:t>
            </a:r>
          </a:p>
          <a:p>
            <a:pPr marL="0" indent="0">
              <a:buNone/>
            </a:pPr>
            <a:endParaRPr lang="en-IN" dirty="0"/>
          </a:p>
        </p:txBody>
      </p:sp>
    </p:spTree>
    <p:extLst>
      <p:ext uri="{BB962C8B-B14F-4D97-AF65-F5344CB8AC3E}">
        <p14:creationId xmlns:p14="http://schemas.microsoft.com/office/powerpoint/2010/main" val="696862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6465"/>
          </a:xfrm>
        </p:spPr>
        <p:txBody>
          <a:bodyPr/>
          <a:lstStyle/>
          <a:p>
            <a:r>
              <a:rPr lang="en-IN" b="1" dirty="0"/>
              <a:t>9. Wheel </a:t>
            </a:r>
            <a:r>
              <a:rPr lang="en-IN" b="1" dirty="0" smtClean="0"/>
              <a:t>Events</a:t>
            </a:r>
            <a:endParaRPr lang="en-IN" dirty="0"/>
          </a:p>
        </p:txBody>
      </p:sp>
      <p:sp>
        <p:nvSpPr>
          <p:cNvPr id="3" name="Content Placeholder 2"/>
          <p:cNvSpPr>
            <a:spLocks noGrp="1"/>
          </p:cNvSpPr>
          <p:nvPr>
            <p:ph idx="1"/>
          </p:nvPr>
        </p:nvSpPr>
        <p:spPr>
          <a:xfrm>
            <a:off x="838200" y="1440180"/>
            <a:ext cx="10515600" cy="4736783"/>
          </a:xfrm>
        </p:spPr>
        <p:txBody>
          <a:bodyPr/>
          <a:lstStyle/>
          <a:p>
            <a:pPr marL="0" indent="0">
              <a:buNone/>
            </a:pPr>
            <a:r>
              <a:rPr lang="en-IN" dirty="0"/>
              <a:t>These events are triggered when the user scrolls the mouse wheel.</a:t>
            </a:r>
          </a:p>
          <a:p>
            <a:pPr marL="0" lvl="0" indent="0">
              <a:buNone/>
            </a:pPr>
            <a:r>
              <a:rPr lang="en-IN" b="1" dirty="0" err="1"/>
              <a:t>onWheel</a:t>
            </a:r>
            <a:r>
              <a:rPr lang="en-IN" dirty="0"/>
              <a:t>: Fired when the mouse wheel is scrolled.</a:t>
            </a:r>
          </a:p>
          <a:p>
            <a:pPr marL="0" indent="0">
              <a:buNone/>
            </a:pPr>
            <a:r>
              <a:rPr lang="en-IN" dirty="0"/>
              <a:t>Example:- &lt;div </a:t>
            </a:r>
            <a:r>
              <a:rPr lang="en-IN" dirty="0" err="1"/>
              <a:t>onWheel</a:t>
            </a:r>
            <a:r>
              <a:rPr lang="en-IN" dirty="0"/>
              <a:t>={(e) =&gt; console.log(`Scrolled: ${</a:t>
            </a:r>
            <a:r>
              <a:rPr lang="en-IN" dirty="0" err="1"/>
              <a:t>e.deltaY</a:t>
            </a:r>
            <a:r>
              <a:rPr lang="en-IN" dirty="0"/>
              <a:t>}`)}&gt;Scroll Me&lt;/div&gt;</a:t>
            </a:r>
          </a:p>
          <a:p>
            <a:pPr marL="0" indent="0">
              <a:buNone/>
            </a:pPr>
            <a:endParaRPr lang="en-IN" dirty="0"/>
          </a:p>
        </p:txBody>
      </p:sp>
    </p:spTree>
    <p:extLst>
      <p:ext uri="{BB962C8B-B14F-4D97-AF65-F5344CB8AC3E}">
        <p14:creationId xmlns:p14="http://schemas.microsoft.com/office/powerpoint/2010/main" val="2272785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6455"/>
          </a:xfrm>
        </p:spPr>
        <p:txBody>
          <a:bodyPr/>
          <a:lstStyle/>
          <a:p>
            <a:r>
              <a:rPr lang="en-IN" b="1" dirty="0"/>
              <a:t>10. Media </a:t>
            </a:r>
            <a:r>
              <a:rPr lang="en-IN" b="1" dirty="0" smtClean="0"/>
              <a:t>Events</a:t>
            </a:r>
            <a:endParaRPr lang="en-IN" dirty="0"/>
          </a:p>
        </p:txBody>
      </p:sp>
      <p:sp>
        <p:nvSpPr>
          <p:cNvPr id="3" name="Content Placeholder 2"/>
          <p:cNvSpPr>
            <a:spLocks noGrp="1"/>
          </p:cNvSpPr>
          <p:nvPr>
            <p:ph idx="1"/>
          </p:nvPr>
        </p:nvSpPr>
        <p:spPr>
          <a:xfrm>
            <a:off x="838200" y="1211580"/>
            <a:ext cx="10515600" cy="4965383"/>
          </a:xfrm>
        </p:spPr>
        <p:txBody>
          <a:bodyPr>
            <a:normAutofit lnSpcReduction="10000"/>
          </a:bodyPr>
          <a:lstStyle/>
          <a:p>
            <a:pPr marL="0" indent="0">
              <a:buNone/>
            </a:pPr>
            <a:r>
              <a:rPr lang="en-IN" dirty="0"/>
              <a:t>These events are associated with media elements like &lt;audio&gt; and &lt;video&gt;.</a:t>
            </a:r>
          </a:p>
          <a:p>
            <a:pPr marL="0" lvl="0" indent="0">
              <a:buNone/>
            </a:pPr>
            <a:r>
              <a:rPr lang="en-IN" b="1" dirty="0" err="1"/>
              <a:t>onPlay</a:t>
            </a:r>
            <a:r>
              <a:rPr lang="en-IN" dirty="0"/>
              <a:t>: Fired when the media starts playing.</a:t>
            </a:r>
          </a:p>
          <a:p>
            <a:pPr marL="0" lvl="0" indent="0">
              <a:buNone/>
            </a:pPr>
            <a:r>
              <a:rPr lang="en-IN" b="1" dirty="0" err="1"/>
              <a:t>onPause</a:t>
            </a:r>
            <a:r>
              <a:rPr lang="en-IN" dirty="0"/>
              <a:t>: Fired when the media is paused.</a:t>
            </a:r>
          </a:p>
          <a:p>
            <a:pPr marL="0" lvl="0" indent="0">
              <a:buNone/>
            </a:pPr>
            <a:r>
              <a:rPr lang="en-IN" b="1" dirty="0" err="1"/>
              <a:t>onEnded</a:t>
            </a:r>
            <a:r>
              <a:rPr lang="en-IN" dirty="0"/>
              <a:t>: Fired when playback of media has ended.</a:t>
            </a:r>
          </a:p>
          <a:p>
            <a:pPr marL="0" lvl="0" indent="0">
              <a:buNone/>
            </a:pPr>
            <a:r>
              <a:rPr lang="en-IN" b="1" dirty="0" err="1"/>
              <a:t>onVolumeChange</a:t>
            </a:r>
            <a:r>
              <a:rPr lang="en-IN" dirty="0"/>
              <a:t>: Fired when the volume is changed.</a:t>
            </a:r>
          </a:p>
          <a:p>
            <a:pPr marL="0" indent="0">
              <a:buNone/>
            </a:pPr>
            <a:r>
              <a:rPr lang="en-IN" dirty="0"/>
              <a:t>Example:</a:t>
            </a:r>
          </a:p>
          <a:p>
            <a:pPr marL="0" indent="0">
              <a:buNone/>
            </a:pPr>
            <a:r>
              <a:rPr lang="en-IN" dirty="0"/>
              <a:t>&lt;video </a:t>
            </a:r>
            <a:r>
              <a:rPr lang="en-IN" dirty="0" err="1"/>
              <a:t>onPlay</a:t>
            </a:r>
            <a:r>
              <a:rPr lang="en-IN" dirty="0"/>
              <a:t>={() =&gt; console.log('Playing')} </a:t>
            </a:r>
            <a:r>
              <a:rPr lang="en-IN" dirty="0" err="1"/>
              <a:t>onPause</a:t>
            </a:r>
            <a:r>
              <a:rPr lang="en-IN" dirty="0"/>
              <a:t>={() =&gt; console.log('Paused')} controls&gt;</a:t>
            </a:r>
          </a:p>
          <a:p>
            <a:pPr marL="0" indent="0">
              <a:buNone/>
            </a:pPr>
            <a:r>
              <a:rPr lang="en-IN" dirty="0"/>
              <a:t>  &lt;source </a:t>
            </a:r>
            <a:r>
              <a:rPr lang="en-IN" dirty="0" err="1"/>
              <a:t>src</a:t>
            </a:r>
            <a:r>
              <a:rPr lang="en-IN" dirty="0"/>
              <a:t>="movie.mp4" type="video/mp4" /&gt;</a:t>
            </a:r>
          </a:p>
          <a:p>
            <a:pPr marL="0" indent="0">
              <a:buNone/>
            </a:pPr>
            <a:r>
              <a:rPr lang="en-IN" dirty="0"/>
              <a:t>&lt;/video&gt;</a:t>
            </a:r>
          </a:p>
          <a:p>
            <a:pPr marL="0" indent="0">
              <a:buNone/>
            </a:pPr>
            <a:endParaRPr lang="en-IN" dirty="0"/>
          </a:p>
        </p:txBody>
      </p:sp>
    </p:spTree>
    <p:extLst>
      <p:ext uri="{BB962C8B-B14F-4D97-AF65-F5344CB8AC3E}">
        <p14:creationId xmlns:p14="http://schemas.microsoft.com/office/powerpoint/2010/main" val="2551069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3615"/>
          </a:xfrm>
        </p:spPr>
        <p:txBody>
          <a:bodyPr/>
          <a:lstStyle/>
          <a:p>
            <a:r>
              <a:rPr lang="en-IN" b="1" dirty="0"/>
              <a:t>11. Image </a:t>
            </a:r>
            <a:r>
              <a:rPr lang="en-IN" b="1" dirty="0" smtClean="0"/>
              <a:t>Events</a:t>
            </a:r>
            <a:endParaRPr lang="en-IN" dirty="0"/>
          </a:p>
        </p:txBody>
      </p:sp>
      <p:sp>
        <p:nvSpPr>
          <p:cNvPr id="3" name="Content Placeholder 2"/>
          <p:cNvSpPr>
            <a:spLocks noGrp="1"/>
          </p:cNvSpPr>
          <p:nvPr>
            <p:ph idx="1"/>
          </p:nvPr>
        </p:nvSpPr>
        <p:spPr>
          <a:xfrm>
            <a:off x="838200" y="1348740"/>
            <a:ext cx="10515600" cy="4828223"/>
          </a:xfrm>
        </p:spPr>
        <p:txBody>
          <a:bodyPr/>
          <a:lstStyle/>
          <a:p>
            <a:pPr marL="0" indent="0">
              <a:buNone/>
            </a:pPr>
            <a:r>
              <a:rPr lang="en-IN" dirty="0"/>
              <a:t>These events are specific to media and image elements.</a:t>
            </a:r>
          </a:p>
          <a:p>
            <a:pPr marL="0" lvl="0" indent="0">
              <a:buNone/>
            </a:pPr>
            <a:r>
              <a:rPr lang="en-IN" b="1" dirty="0" err="1"/>
              <a:t>onLoad</a:t>
            </a:r>
            <a:r>
              <a:rPr lang="en-IN" dirty="0"/>
              <a:t>: Fired when an image or media file has finished loading.</a:t>
            </a:r>
          </a:p>
          <a:p>
            <a:pPr marL="0" lvl="0" indent="0">
              <a:buNone/>
            </a:pPr>
            <a:r>
              <a:rPr lang="en-IN" b="1" dirty="0" err="1"/>
              <a:t>onError</a:t>
            </a:r>
            <a:r>
              <a:rPr lang="en-IN" dirty="0"/>
              <a:t>: Fired when an error occurs during media or image loading.</a:t>
            </a:r>
          </a:p>
          <a:p>
            <a:pPr marL="0" indent="0">
              <a:buNone/>
            </a:pPr>
            <a:r>
              <a:rPr lang="en-IN" dirty="0"/>
              <a:t>Example:- &lt;</a:t>
            </a:r>
            <a:r>
              <a:rPr lang="en-IN" dirty="0" err="1"/>
              <a:t>img</a:t>
            </a:r>
            <a:r>
              <a:rPr lang="en-IN" dirty="0"/>
              <a:t> </a:t>
            </a:r>
            <a:r>
              <a:rPr lang="en-IN" dirty="0" err="1"/>
              <a:t>src</a:t>
            </a:r>
            <a:r>
              <a:rPr lang="en-IN" dirty="0"/>
              <a:t>="image.jpg" </a:t>
            </a:r>
            <a:r>
              <a:rPr lang="en-IN" dirty="0" err="1"/>
              <a:t>onLoad</a:t>
            </a:r>
            <a:r>
              <a:rPr lang="en-IN" dirty="0"/>
              <a:t>={() =&gt; console.log('Image loaded')} </a:t>
            </a:r>
            <a:r>
              <a:rPr lang="en-IN" dirty="0" err="1"/>
              <a:t>onError</a:t>
            </a:r>
            <a:r>
              <a:rPr lang="en-IN" dirty="0"/>
              <a:t>={() =&gt; console.log('Error loading image')} /&gt;</a:t>
            </a:r>
          </a:p>
          <a:p>
            <a:pPr marL="0" indent="0">
              <a:buNone/>
            </a:pPr>
            <a:endParaRPr lang="en-IN" dirty="0"/>
          </a:p>
        </p:txBody>
      </p:sp>
    </p:spTree>
    <p:extLst>
      <p:ext uri="{BB962C8B-B14F-4D97-AF65-F5344CB8AC3E}">
        <p14:creationId xmlns:p14="http://schemas.microsoft.com/office/powerpoint/2010/main" val="510598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3615"/>
          </a:xfrm>
        </p:spPr>
        <p:txBody>
          <a:bodyPr/>
          <a:lstStyle/>
          <a:p>
            <a:r>
              <a:rPr lang="en-IN" b="1" dirty="0"/>
              <a:t>12. Animation </a:t>
            </a:r>
            <a:r>
              <a:rPr lang="en-IN" b="1" dirty="0" smtClean="0"/>
              <a:t>Events</a:t>
            </a:r>
            <a:endParaRPr lang="en-IN" dirty="0"/>
          </a:p>
        </p:txBody>
      </p:sp>
      <p:sp>
        <p:nvSpPr>
          <p:cNvPr id="3" name="Content Placeholder 2"/>
          <p:cNvSpPr>
            <a:spLocks noGrp="1"/>
          </p:cNvSpPr>
          <p:nvPr>
            <p:ph idx="1"/>
          </p:nvPr>
        </p:nvSpPr>
        <p:spPr>
          <a:xfrm>
            <a:off x="838200" y="1543050"/>
            <a:ext cx="10515600" cy="4633913"/>
          </a:xfrm>
        </p:spPr>
        <p:txBody>
          <a:bodyPr/>
          <a:lstStyle/>
          <a:p>
            <a:pPr marL="0" indent="0">
              <a:buNone/>
            </a:pPr>
            <a:r>
              <a:rPr lang="en-IN" dirty="0"/>
              <a:t>These events handle CSS animations.</a:t>
            </a:r>
          </a:p>
          <a:p>
            <a:pPr marL="0" lvl="0" indent="0">
              <a:buNone/>
            </a:pPr>
            <a:r>
              <a:rPr lang="en-IN" b="1" dirty="0" err="1"/>
              <a:t>onAnimationStart</a:t>
            </a:r>
            <a:r>
              <a:rPr lang="en-IN" dirty="0"/>
              <a:t>: Fired when a CSS animation starts.</a:t>
            </a:r>
          </a:p>
          <a:p>
            <a:pPr marL="0" lvl="0" indent="0">
              <a:buNone/>
            </a:pPr>
            <a:r>
              <a:rPr lang="en-IN" b="1" dirty="0" err="1"/>
              <a:t>onAnimationEnd</a:t>
            </a:r>
            <a:r>
              <a:rPr lang="en-IN" dirty="0"/>
              <a:t>: Fired when a CSS animation ends.</a:t>
            </a:r>
          </a:p>
          <a:p>
            <a:pPr marL="0" lvl="0" indent="0">
              <a:buNone/>
            </a:pPr>
            <a:r>
              <a:rPr lang="en-IN" b="1" dirty="0" err="1"/>
              <a:t>onAnimationIteration</a:t>
            </a:r>
            <a:r>
              <a:rPr lang="en-IN" dirty="0"/>
              <a:t>: Fired when a CSS animation iteration is completed.</a:t>
            </a:r>
          </a:p>
          <a:p>
            <a:pPr marL="0" indent="0">
              <a:buNone/>
            </a:pPr>
            <a:r>
              <a:rPr lang="en-IN" dirty="0"/>
              <a:t>Example:</a:t>
            </a:r>
          </a:p>
          <a:p>
            <a:pPr marL="0" indent="0">
              <a:buNone/>
            </a:pPr>
            <a:r>
              <a:rPr lang="en-IN" dirty="0"/>
              <a:t>&lt;div </a:t>
            </a:r>
            <a:r>
              <a:rPr lang="en-IN" dirty="0" err="1"/>
              <a:t>onAnimationEnd</a:t>
            </a:r>
            <a:r>
              <a:rPr lang="en-IN" dirty="0"/>
              <a:t>={() =&gt; console.log('Animation ended')}&gt;Animated </a:t>
            </a:r>
            <a:r>
              <a:rPr lang="en-IN" dirty="0" err="1"/>
              <a:t>Div</a:t>
            </a:r>
            <a:r>
              <a:rPr lang="en-IN" dirty="0"/>
              <a:t>&lt;/div&gt;</a:t>
            </a:r>
          </a:p>
          <a:p>
            <a:pPr marL="0" indent="0">
              <a:buNone/>
            </a:pPr>
            <a:endParaRPr lang="en-IN" dirty="0"/>
          </a:p>
        </p:txBody>
      </p:sp>
    </p:spTree>
    <p:extLst>
      <p:ext uri="{BB962C8B-B14F-4D97-AF65-F5344CB8AC3E}">
        <p14:creationId xmlns:p14="http://schemas.microsoft.com/office/powerpoint/2010/main" val="585521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7885"/>
          </a:xfrm>
        </p:spPr>
        <p:txBody>
          <a:bodyPr/>
          <a:lstStyle/>
          <a:p>
            <a:r>
              <a:rPr lang="en-IN" b="1" dirty="0"/>
              <a:t>13. Transition </a:t>
            </a:r>
            <a:r>
              <a:rPr lang="en-IN" b="1" dirty="0" smtClean="0"/>
              <a:t>Events</a:t>
            </a:r>
            <a:endParaRPr lang="en-IN" dirty="0"/>
          </a:p>
        </p:txBody>
      </p:sp>
      <p:sp>
        <p:nvSpPr>
          <p:cNvPr id="3" name="Content Placeholder 2"/>
          <p:cNvSpPr>
            <a:spLocks noGrp="1"/>
          </p:cNvSpPr>
          <p:nvPr>
            <p:ph idx="1"/>
          </p:nvPr>
        </p:nvSpPr>
        <p:spPr>
          <a:xfrm>
            <a:off x="838200" y="1051560"/>
            <a:ext cx="10515600" cy="5125403"/>
          </a:xfrm>
        </p:spPr>
        <p:txBody>
          <a:bodyPr/>
          <a:lstStyle/>
          <a:p>
            <a:pPr marL="0" indent="0">
              <a:buNone/>
            </a:pPr>
            <a:r>
              <a:rPr lang="en-IN" dirty="0"/>
              <a:t>These events are triggered during CSS transitions.</a:t>
            </a:r>
          </a:p>
          <a:p>
            <a:pPr marL="0" lvl="0" indent="0">
              <a:buNone/>
            </a:pPr>
            <a:r>
              <a:rPr lang="en-IN" b="1" dirty="0" err="1"/>
              <a:t>onTransitionEnd</a:t>
            </a:r>
            <a:r>
              <a:rPr lang="en-IN" dirty="0"/>
              <a:t>: Fired when a CSS transition ends.</a:t>
            </a:r>
          </a:p>
          <a:p>
            <a:pPr marL="0" indent="0">
              <a:buNone/>
            </a:pPr>
            <a:r>
              <a:rPr lang="en-IN" dirty="0"/>
              <a:t>Example:</a:t>
            </a:r>
          </a:p>
          <a:p>
            <a:pPr marL="0" indent="0">
              <a:buNone/>
            </a:pPr>
            <a:r>
              <a:rPr lang="en-IN" dirty="0"/>
              <a:t>&lt;div </a:t>
            </a:r>
            <a:r>
              <a:rPr lang="en-IN" dirty="0" err="1"/>
              <a:t>onTransitionEnd</a:t>
            </a:r>
            <a:r>
              <a:rPr lang="en-IN" dirty="0"/>
              <a:t>={() =&gt; console.log('Transition ended')}&gt;Transitioning </a:t>
            </a:r>
            <a:r>
              <a:rPr lang="en-IN" dirty="0" err="1"/>
              <a:t>Div</a:t>
            </a:r>
            <a:r>
              <a:rPr lang="en-IN" dirty="0"/>
              <a:t>&lt;/div&gt;</a:t>
            </a:r>
          </a:p>
          <a:p>
            <a:pPr marL="0" indent="0">
              <a:buNone/>
            </a:pPr>
            <a:endParaRPr lang="en-IN" dirty="0"/>
          </a:p>
        </p:txBody>
      </p:sp>
    </p:spTree>
    <p:extLst>
      <p:ext uri="{BB962C8B-B14F-4D97-AF65-F5344CB8AC3E}">
        <p14:creationId xmlns:p14="http://schemas.microsoft.com/office/powerpoint/2010/main" val="3488132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7885"/>
          </a:xfrm>
        </p:spPr>
        <p:txBody>
          <a:bodyPr/>
          <a:lstStyle/>
          <a:p>
            <a:r>
              <a:rPr lang="en-IN" b="1" dirty="0"/>
              <a:t>14. Other </a:t>
            </a:r>
            <a:r>
              <a:rPr lang="en-IN" b="1" dirty="0" smtClean="0"/>
              <a:t>Events</a:t>
            </a:r>
            <a:endParaRPr lang="en-IN" dirty="0"/>
          </a:p>
        </p:txBody>
      </p:sp>
      <p:sp>
        <p:nvSpPr>
          <p:cNvPr id="3" name="Content Placeholder 2"/>
          <p:cNvSpPr>
            <a:spLocks noGrp="1"/>
          </p:cNvSpPr>
          <p:nvPr>
            <p:ph idx="1"/>
          </p:nvPr>
        </p:nvSpPr>
        <p:spPr>
          <a:xfrm>
            <a:off x="838200" y="1223010"/>
            <a:ext cx="10515600" cy="4953953"/>
          </a:xfrm>
        </p:spPr>
        <p:txBody>
          <a:bodyPr/>
          <a:lstStyle/>
          <a:p>
            <a:pPr marL="0" lvl="0" indent="0">
              <a:buNone/>
            </a:pPr>
            <a:r>
              <a:rPr lang="en-IN" b="1" dirty="0" err="1"/>
              <a:t>onScroll</a:t>
            </a:r>
            <a:r>
              <a:rPr lang="en-IN" dirty="0"/>
              <a:t>: Fired when the user scrolls an element.</a:t>
            </a:r>
          </a:p>
          <a:p>
            <a:pPr marL="0" lvl="0" indent="0">
              <a:buNone/>
            </a:pPr>
            <a:r>
              <a:rPr lang="en-IN" b="1" dirty="0" err="1"/>
              <a:t>onContextMenu</a:t>
            </a:r>
            <a:r>
              <a:rPr lang="en-IN" dirty="0"/>
              <a:t>: Fired when the user right-clicks to open the context menu.</a:t>
            </a:r>
          </a:p>
          <a:p>
            <a:pPr marL="0" lvl="0" indent="0">
              <a:buNone/>
            </a:pPr>
            <a:r>
              <a:rPr lang="en-IN" b="1" dirty="0" err="1"/>
              <a:t>onResize</a:t>
            </a:r>
            <a:r>
              <a:rPr lang="en-IN" dirty="0"/>
              <a:t>: Fired when the window is resized (applicable only on the window object).</a:t>
            </a:r>
          </a:p>
          <a:p>
            <a:pPr marL="0" indent="0">
              <a:buNone/>
            </a:pPr>
            <a:r>
              <a:rPr lang="en-IN" dirty="0"/>
              <a:t>Example for scrolling:</a:t>
            </a:r>
          </a:p>
          <a:p>
            <a:pPr marL="0" indent="0">
              <a:buNone/>
            </a:pPr>
            <a:r>
              <a:rPr lang="en-IN" dirty="0"/>
              <a:t>&lt;div </a:t>
            </a:r>
            <a:r>
              <a:rPr lang="en-IN" dirty="0" err="1"/>
              <a:t>onScroll</a:t>
            </a:r>
            <a:r>
              <a:rPr lang="en-IN" dirty="0"/>
              <a:t>={() =&gt; console.log('Scrolling')} style={{ </a:t>
            </a:r>
            <a:r>
              <a:rPr lang="en-IN" dirty="0" err="1"/>
              <a:t>overflowY</a:t>
            </a:r>
            <a:r>
              <a:rPr lang="en-IN" dirty="0"/>
              <a:t>: 'scroll', height: '100px' }}&gt;</a:t>
            </a:r>
          </a:p>
          <a:p>
            <a:pPr marL="0" indent="0">
              <a:buNone/>
            </a:pPr>
            <a:r>
              <a:rPr lang="en-IN" dirty="0"/>
              <a:t>  &lt;div style={{ height: '300px' }}&gt;Scroll me&lt;/div&gt;</a:t>
            </a:r>
          </a:p>
          <a:p>
            <a:pPr marL="0" indent="0">
              <a:buNone/>
            </a:pPr>
            <a:r>
              <a:rPr lang="en-IN" dirty="0"/>
              <a:t>&lt;/div&gt;</a:t>
            </a:r>
          </a:p>
          <a:p>
            <a:pPr marL="0" indent="0">
              <a:buNone/>
            </a:pPr>
            <a:endParaRPr lang="en-IN" dirty="0"/>
          </a:p>
        </p:txBody>
      </p:sp>
    </p:spTree>
    <p:extLst>
      <p:ext uri="{BB962C8B-B14F-4D97-AF65-F5344CB8AC3E}">
        <p14:creationId xmlns:p14="http://schemas.microsoft.com/office/powerpoint/2010/main" val="797353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8640"/>
            <a:ext cx="10515600" cy="5628323"/>
          </a:xfrm>
        </p:spPr>
        <p:txBody>
          <a:bodyPr>
            <a:normAutofit fontScale="70000" lnSpcReduction="20000"/>
          </a:bodyPr>
          <a:lstStyle/>
          <a:p>
            <a:pPr marL="0" indent="0">
              <a:buNone/>
            </a:pPr>
            <a:r>
              <a:rPr lang="en-IN" dirty="0"/>
              <a:t>Just like HTML DOM events, react can perform actions based on user events. React has the same events as HTML but with a few key differences. React provides a way to handle events in a declarative way, and events in React are normalized across different browsers to ensure consistency.</a:t>
            </a:r>
          </a:p>
          <a:p>
            <a:pPr marL="0" indent="0">
              <a:buNone/>
            </a:pPr>
            <a:r>
              <a:rPr lang="en-IN" dirty="0"/>
              <a:t>Basic Event Handling Syntax</a:t>
            </a:r>
          </a:p>
          <a:p>
            <a:pPr marL="0" indent="0">
              <a:buNone/>
            </a:pPr>
            <a:r>
              <a:rPr lang="en-IN" dirty="0"/>
              <a:t>import React from 'react';</a:t>
            </a:r>
          </a:p>
          <a:p>
            <a:pPr marL="0" indent="0">
              <a:buNone/>
            </a:pPr>
            <a:r>
              <a:rPr lang="en-IN" dirty="0"/>
              <a:t>function App() {</a:t>
            </a:r>
          </a:p>
          <a:p>
            <a:pPr marL="0" indent="0">
              <a:buNone/>
            </a:pPr>
            <a:r>
              <a:rPr lang="en-IN" dirty="0"/>
              <a:t>  </a:t>
            </a:r>
            <a:r>
              <a:rPr lang="en-IN" dirty="0" err="1"/>
              <a:t>const</a:t>
            </a:r>
            <a:r>
              <a:rPr lang="en-IN" dirty="0"/>
              <a:t> </a:t>
            </a:r>
            <a:r>
              <a:rPr lang="en-IN" dirty="0" err="1"/>
              <a:t>handleClick</a:t>
            </a:r>
            <a:r>
              <a:rPr lang="en-IN" dirty="0"/>
              <a:t> = () =&gt; {</a:t>
            </a:r>
          </a:p>
          <a:p>
            <a:pPr marL="0" indent="0">
              <a:buNone/>
            </a:pPr>
            <a:r>
              <a:rPr lang="en-IN" dirty="0"/>
              <a:t>    alert('Button clicked!');</a:t>
            </a:r>
          </a:p>
          <a:p>
            <a:pPr marL="0" indent="0">
              <a:buNone/>
            </a:pPr>
            <a:r>
              <a:rPr lang="en-IN" dirty="0"/>
              <a:t>  };</a:t>
            </a:r>
          </a:p>
          <a:p>
            <a:pPr marL="0" indent="0">
              <a:buNone/>
            </a:pPr>
            <a:r>
              <a:rPr lang="en-IN" dirty="0"/>
              <a:t>  return (</a:t>
            </a:r>
          </a:p>
          <a:p>
            <a:pPr marL="0" indent="0">
              <a:buNone/>
            </a:pPr>
            <a:r>
              <a:rPr lang="en-IN" dirty="0"/>
              <a:t>    &lt;div&gt;</a:t>
            </a:r>
          </a:p>
          <a:p>
            <a:pPr marL="0" indent="0">
              <a:buNone/>
            </a:pPr>
            <a:r>
              <a:rPr lang="en-IN" dirty="0"/>
              <a:t>      &lt;button </a:t>
            </a:r>
            <a:r>
              <a:rPr lang="en-IN" dirty="0" err="1"/>
              <a:t>onClick</a:t>
            </a:r>
            <a:r>
              <a:rPr lang="en-IN" dirty="0"/>
              <a:t>={</a:t>
            </a:r>
            <a:r>
              <a:rPr lang="en-IN" dirty="0" err="1"/>
              <a:t>handleClick</a:t>
            </a:r>
            <a:r>
              <a:rPr lang="en-IN" dirty="0"/>
              <a:t>}&gt;Click Me&lt;/button&gt;</a:t>
            </a:r>
          </a:p>
          <a:p>
            <a:pPr marL="0" indent="0">
              <a:buNone/>
            </a:pPr>
            <a:r>
              <a:rPr lang="en-IN" dirty="0"/>
              <a:t>    &lt;/div&gt;</a:t>
            </a:r>
          </a:p>
          <a:p>
            <a:pPr marL="0" indent="0">
              <a:buNone/>
            </a:pPr>
            <a:r>
              <a:rPr lang="en-IN" dirty="0"/>
              <a:t>  );</a:t>
            </a:r>
          </a:p>
          <a:p>
            <a:pPr marL="0" indent="0">
              <a:buNone/>
            </a:pPr>
            <a:r>
              <a:rPr lang="en-IN" dirty="0"/>
              <a:t>}</a:t>
            </a:r>
          </a:p>
          <a:p>
            <a:pPr marL="0" indent="0">
              <a:buNone/>
            </a:pPr>
            <a:r>
              <a:rPr lang="en-IN" dirty="0"/>
              <a:t>export default App;</a:t>
            </a:r>
          </a:p>
        </p:txBody>
      </p:sp>
    </p:spTree>
    <p:extLst>
      <p:ext uri="{BB962C8B-B14F-4D97-AF65-F5344CB8AC3E}">
        <p14:creationId xmlns:p14="http://schemas.microsoft.com/office/powerpoint/2010/main" val="1065453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7220"/>
            <a:ext cx="10515600" cy="5559743"/>
          </a:xfrm>
        </p:spPr>
        <p:txBody>
          <a:bodyPr>
            <a:normAutofit fontScale="92500" lnSpcReduction="20000"/>
          </a:bodyPr>
          <a:lstStyle/>
          <a:p>
            <a:pPr marL="0" indent="0">
              <a:buNone/>
            </a:pPr>
            <a:r>
              <a:rPr lang="en-IN" b="1" dirty="0"/>
              <a:t>Synthetic Events</a:t>
            </a:r>
            <a:endParaRPr lang="en-IN" dirty="0"/>
          </a:p>
          <a:p>
            <a:pPr marL="0" indent="0">
              <a:buNone/>
            </a:pPr>
            <a:r>
              <a:rPr lang="en-IN" dirty="0"/>
              <a:t>React uses a system called </a:t>
            </a:r>
            <a:r>
              <a:rPr lang="en-IN" b="1" dirty="0"/>
              <a:t>Synthetic Events</a:t>
            </a:r>
            <a:r>
              <a:rPr lang="en-IN" dirty="0"/>
              <a:t> to handle events. These synthetic events are wrappers around native browser events and work consistently across different browsers. The event object is passed as an argument to the event handler.</a:t>
            </a:r>
          </a:p>
          <a:p>
            <a:pPr marL="0" indent="0">
              <a:buNone/>
            </a:pPr>
            <a:r>
              <a:rPr lang="en-IN" dirty="0"/>
              <a:t>function App() {</a:t>
            </a:r>
          </a:p>
          <a:p>
            <a:pPr marL="0" indent="0">
              <a:buNone/>
            </a:pPr>
            <a:r>
              <a:rPr lang="en-IN" dirty="0"/>
              <a:t>  </a:t>
            </a:r>
            <a:r>
              <a:rPr lang="en-IN" dirty="0" err="1"/>
              <a:t>const</a:t>
            </a:r>
            <a:r>
              <a:rPr lang="en-IN" dirty="0"/>
              <a:t> </a:t>
            </a:r>
            <a:r>
              <a:rPr lang="en-IN" dirty="0" err="1"/>
              <a:t>handleClick</a:t>
            </a:r>
            <a:r>
              <a:rPr lang="en-IN" dirty="0"/>
              <a:t> = (event) =&gt; {</a:t>
            </a:r>
          </a:p>
          <a:p>
            <a:pPr marL="0" indent="0">
              <a:buNone/>
            </a:pPr>
            <a:r>
              <a:rPr lang="en-IN" dirty="0"/>
              <a:t>    console.log(event); </a:t>
            </a:r>
          </a:p>
          <a:p>
            <a:pPr marL="0" indent="0">
              <a:buNone/>
            </a:pPr>
            <a:r>
              <a:rPr lang="en-IN" dirty="0"/>
              <a:t>    console.log(</a:t>
            </a:r>
            <a:r>
              <a:rPr lang="en-IN" dirty="0" err="1"/>
              <a:t>event.target</a:t>
            </a:r>
            <a:r>
              <a:rPr lang="en-IN" dirty="0"/>
              <a:t>); </a:t>
            </a:r>
          </a:p>
          <a:p>
            <a:pPr marL="0" indent="0">
              <a:buNone/>
            </a:pPr>
            <a:r>
              <a:rPr lang="en-IN" dirty="0"/>
              <a:t>  };</a:t>
            </a:r>
          </a:p>
          <a:p>
            <a:pPr marL="0" indent="0">
              <a:buNone/>
            </a:pPr>
            <a:r>
              <a:rPr lang="en-IN" dirty="0"/>
              <a:t>  return (</a:t>
            </a:r>
          </a:p>
          <a:p>
            <a:pPr marL="0" indent="0">
              <a:buNone/>
            </a:pPr>
            <a:r>
              <a:rPr lang="en-IN" dirty="0"/>
              <a:t>    &lt;button </a:t>
            </a:r>
            <a:r>
              <a:rPr lang="en-IN" dirty="0" err="1"/>
              <a:t>onClick</a:t>
            </a:r>
            <a:r>
              <a:rPr lang="en-IN" dirty="0"/>
              <a:t>={</a:t>
            </a:r>
            <a:r>
              <a:rPr lang="en-IN" dirty="0" err="1"/>
              <a:t>handleClick</a:t>
            </a:r>
            <a:r>
              <a:rPr lang="en-IN" dirty="0"/>
              <a:t>}&gt;Click Me&lt;/button&gt;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464502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4340"/>
            <a:ext cx="10515600" cy="5742623"/>
          </a:xfrm>
        </p:spPr>
        <p:txBody>
          <a:bodyPr>
            <a:normAutofit lnSpcReduction="10000"/>
          </a:bodyPr>
          <a:lstStyle/>
          <a:p>
            <a:pPr marL="0" indent="0">
              <a:buNone/>
            </a:pPr>
            <a:r>
              <a:rPr lang="en-IN" dirty="0"/>
              <a:t>Passing Parameters to Event Handlers</a:t>
            </a:r>
          </a:p>
          <a:p>
            <a:pPr marL="0" indent="0">
              <a:buNone/>
            </a:pPr>
            <a:r>
              <a:rPr lang="en-IN" dirty="0"/>
              <a:t>You can pass additional arguments to the event handler by wrapping the handler inside another function.</a:t>
            </a:r>
          </a:p>
          <a:p>
            <a:pPr marL="0" indent="0">
              <a:buNone/>
            </a:pPr>
            <a:r>
              <a:rPr lang="en-IN" dirty="0"/>
              <a:t>function App() {</a:t>
            </a:r>
          </a:p>
          <a:p>
            <a:pPr marL="0" indent="0">
              <a:buNone/>
            </a:pPr>
            <a:r>
              <a:rPr lang="en-IN" dirty="0"/>
              <a:t>  </a:t>
            </a:r>
            <a:r>
              <a:rPr lang="en-IN" dirty="0" err="1"/>
              <a:t>const</a:t>
            </a:r>
            <a:r>
              <a:rPr lang="en-IN" dirty="0"/>
              <a:t> </a:t>
            </a:r>
            <a:r>
              <a:rPr lang="en-IN" dirty="0" err="1"/>
              <a:t>handleClick</a:t>
            </a:r>
            <a:r>
              <a:rPr lang="en-IN" dirty="0"/>
              <a:t> = (message) =&gt; {</a:t>
            </a:r>
          </a:p>
          <a:p>
            <a:pPr marL="0" indent="0">
              <a:buNone/>
            </a:pPr>
            <a:r>
              <a:rPr lang="en-IN" dirty="0"/>
              <a:t>    alert(message);</a:t>
            </a:r>
          </a:p>
          <a:p>
            <a:pPr marL="0" indent="0">
              <a:buNone/>
            </a:pPr>
            <a:r>
              <a:rPr lang="en-IN" dirty="0"/>
              <a:t>  };</a:t>
            </a:r>
          </a:p>
          <a:p>
            <a:pPr marL="0" indent="0">
              <a:buNone/>
            </a:pPr>
            <a:r>
              <a:rPr lang="en-IN" dirty="0"/>
              <a:t>  return (</a:t>
            </a:r>
          </a:p>
          <a:p>
            <a:pPr marL="0" indent="0">
              <a:buNone/>
            </a:pPr>
            <a:r>
              <a:rPr lang="en-IN" dirty="0"/>
              <a:t>    &lt;button </a:t>
            </a:r>
            <a:r>
              <a:rPr lang="en-IN" dirty="0" err="1"/>
              <a:t>onClick</a:t>
            </a:r>
            <a:r>
              <a:rPr lang="en-IN" dirty="0"/>
              <a:t>={() =&gt; </a:t>
            </a:r>
            <a:r>
              <a:rPr lang="en-IN" dirty="0" err="1"/>
              <a:t>handleClick</a:t>
            </a:r>
            <a:r>
              <a:rPr lang="en-IN" dirty="0"/>
              <a:t>('Hello from the button!')}&gt;Click Me&lt;/button&gt;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532495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4370"/>
            <a:ext cx="10515600" cy="5502593"/>
          </a:xfrm>
        </p:spPr>
        <p:txBody>
          <a:bodyPr>
            <a:normAutofit fontScale="85000" lnSpcReduction="20000"/>
          </a:bodyPr>
          <a:lstStyle/>
          <a:p>
            <a:pPr marL="0" indent="0">
              <a:buNone/>
            </a:pPr>
            <a:r>
              <a:rPr lang="en-IN" b="1" dirty="0"/>
              <a:t>Commonly Used Event Handlers</a:t>
            </a:r>
            <a:endParaRPr lang="en-IN" dirty="0"/>
          </a:p>
          <a:p>
            <a:pPr marL="0" indent="0">
              <a:buNone/>
            </a:pPr>
            <a:r>
              <a:rPr lang="en-IN" dirty="0"/>
              <a:t>Here are some common event handlers in React:</a:t>
            </a:r>
          </a:p>
          <a:p>
            <a:pPr marL="0" lvl="0" indent="0">
              <a:buNone/>
            </a:pPr>
            <a:r>
              <a:rPr lang="en-IN" dirty="0" err="1"/>
              <a:t>onClick</a:t>
            </a:r>
            <a:r>
              <a:rPr lang="en-IN" dirty="0"/>
              <a:t>: Handles click events.</a:t>
            </a:r>
          </a:p>
          <a:p>
            <a:pPr marL="0" lvl="0" indent="0">
              <a:buNone/>
            </a:pPr>
            <a:r>
              <a:rPr lang="en-IN" dirty="0" err="1"/>
              <a:t>onChange</a:t>
            </a:r>
            <a:r>
              <a:rPr lang="en-IN" dirty="0"/>
              <a:t>: Handles changes to input fields.</a:t>
            </a:r>
          </a:p>
          <a:p>
            <a:pPr marL="0" lvl="0" indent="0">
              <a:buNone/>
            </a:pPr>
            <a:r>
              <a:rPr lang="en-IN" dirty="0" err="1"/>
              <a:t>onSubmit</a:t>
            </a:r>
            <a:r>
              <a:rPr lang="en-IN" dirty="0"/>
              <a:t>: Handles form submissions.</a:t>
            </a:r>
          </a:p>
          <a:p>
            <a:pPr marL="0" lvl="0" indent="0">
              <a:buNone/>
            </a:pPr>
            <a:r>
              <a:rPr lang="en-IN" dirty="0" err="1"/>
              <a:t>onKeyPress</a:t>
            </a:r>
            <a:r>
              <a:rPr lang="en-IN" dirty="0"/>
              <a:t>: Handles keyboard key presses.</a:t>
            </a:r>
          </a:p>
          <a:p>
            <a:pPr marL="0" indent="0">
              <a:buNone/>
            </a:pPr>
            <a:r>
              <a:rPr lang="en-IN" dirty="0"/>
              <a:t>function App() {</a:t>
            </a:r>
          </a:p>
          <a:p>
            <a:pPr marL="0" indent="0">
              <a:buNone/>
            </a:pPr>
            <a:r>
              <a:rPr lang="en-IN" dirty="0"/>
              <a:t>  </a:t>
            </a:r>
            <a:r>
              <a:rPr lang="en-IN" dirty="0" err="1"/>
              <a:t>const</a:t>
            </a:r>
            <a:r>
              <a:rPr lang="en-IN" dirty="0"/>
              <a:t> </a:t>
            </a:r>
            <a:r>
              <a:rPr lang="en-IN" dirty="0" err="1"/>
              <a:t>handleChange</a:t>
            </a:r>
            <a:r>
              <a:rPr lang="en-IN" dirty="0"/>
              <a:t> = (event) =&gt; {</a:t>
            </a:r>
          </a:p>
          <a:p>
            <a:pPr marL="0" indent="0">
              <a:buNone/>
            </a:pPr>
            <a:r>
              <a:rPr lang="en-IN" dirty="0"/>
              <a:t>    console.log(</a:t>
            </a:r>
            <a:r>
              <a:rPr lang="en-IN" dirty="0" err="1"/>
              <a:t>event.target.value</a:t>
            </a:r>
            <a:r>
              <a:rPr lang="en-IN" dirty="0"/>
              <a:t>);</a:t>
            </a:r>
          </a:p>
          <a:p>
            <a:pPr marL="0" indent="0">
              <a:buNone/>
            </a:pPr>
            <a:r>
              <a:rPr lang="en-IN" dirty="0"/>
              <a:t>  };</a:t>
            </a:r>
          </a:p>
          <a:p>
            <a:pPr marL="0" indent="0">
              <a:buNone/>
            </a:pPr>
            <a:r>
              <a:rPr lang="en-IN" dirty="0"/>
              <a:t>  return (</a:t>
            </a:r>
          </a:p>
          <a:p>
            <a:pPr marL="0" indent="0">
              <a:buNone/>
            </a:pPr>
            <a:r>
              <a:rPr lang="en-IN" dirty="0"/>
              <a:t>    &lt;input type="text" </a:t>
            </a:r>
            <a:r>
              <a:rPr lang="en-IN" dirty="0" err="1"/>
              <a:t>onChange</a:t>
            </a:r>
            <a:r>
              <a:rPr lang="en-IN" dirty="0"/>
              <a:t>={</a:t>
            </a:r>
            <a:r>
              <a:rPr lang="en-IN" dirty="0" err="1"/>
              <a:t>handleChange</a:t>
            </a:r>
            <a:r>
              <a:rPr lang="en-IN" dirty="0"/>
              <a:t>} /&gt;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708871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5800"/>
            <a:ext cx="10515600" cy="5491163"/>
          </a:xfrm>
        </p:spPr>
        <p:txBody>
          <a:bodyPr>
            <a:normAutofit fontScale="55000" lnSpcReduction="20000"/>
          </a:bodyPr>
          <a:lstStyle/>
          <a:p>
            <a:pPr marL="0" indent="0">
              <a:buNone/>
            </a:pPr>
            <a:r>
              <a:rPr lang="en-IN" dirty="0"/>
              <a:t>Handling Events in Class Components</a:t>
            </a:r>
          </a:p>
          <a:p>
            <a:pPr marL="0" indent="0">
              <a:buNone/>
            </a:pPr>
            <a:r>
              <a:rPr lang="en-IN" dirty="0"/>
              <a:t>import React, { Component } from 'react';</a:t>
            </a:r>
          </a:p>
          <a:p>
            <a:pPr marL="0" indent="0">
              <a:buNone/>
            </a:pPr>
            <a:r>
              <a:rPr lang="en-IN" dirty="0"/>
              <a:t> </a:t>
            </a:r>
          </a:p>
          <a:p>
            <a:pPr marL="0" indent="0">
              <a:buNone/>
            </a:pPr>
            <a:r>
              <a:rPr lang="en-IN" dirty="0"/>
              <a:t>class App extends Component {</a:t>
            </a:r>
          </a:p>
          <a:p>
            <a:pPr marL="0" indent="0">
              <a:buNone/>
            </a:pPr>
            <a:r>
              <a:rPr lang="en-IN" dirty="0"/>
              <a:t>  constructor(props) {</a:t>
            </a:r>
          </a:p>
          <a:p>
            <a:pPr marL="0" indent="0">
              <a:buNone/>
            </a:pPr>
            <a:r>
              <a:rPr lang="en-IN" dirty="0"/>
              <a:t>    super(props);</a:t>
            </a:r>
          </a:p>
          <a:p>
            <a:pPr marL="0" indent="0">
              <a:buNone/>
            </a:pPr>
            <a:r>
              <a:rPr lang="en-IN" dirty="0"/>
              <a:t>    </a:t>
            </a:r>
            <a:r>
              <a:rPr lang="en-IN" dirty="0" err="1"/>
              <a:t>this.handleClick</a:t>
            </a:r>
            <a:r>
              <a:rPr lang="en-IN" dirty="0"/>
              <a:t> = </a:t>
            </a:r>
            <a:r>
              <a:rPr lang="en-IN" dirty="0" err="1"/>
              <a:t>this.handleClick.bind</a:t>
            </a:r>
            <a:r>
              <a:rPr lang="en-IN" dirty="0"/>
              <a:t>(this);</a:t>
            </a:r>
          </a:p>
          <a:p>
            <a:pPr marL="0" indent="0">
              <a:buNone/>
            </a:pPr>
            <a:r>
              <a:rPr lang="en-IN" dirty="0"/>
              <a:t>  }</a:t>
            </a:r>
          </a:p>
          <a:p>
            <a:pPr marL="0" indent="0">
              <a:buNone/>
            </a:pPr>
            <a:r>
              <a:rPr lang="en-IN" dirty="0"/>
              <a:t>  </a:t>
            </a:r>
            <a:r>
              <a:rPr lang="en-IN" dirty="0" err="1"/>
              <a:t>handleClick</a:t>
            </a:r>
            <a:r>
              <a:rPr lang="en-IN" dirty="0"/>
              <a:t>() {</a:t>
            </a:r>
          </a:p>
          <a:p>
            <a:pPr marL="0" indent="0">
              <a:buNone/>
            </a:pPr>
            <a:r>
              <a:rPr lang="en-IN" dirty="0"/>
              <a:t>    alert('Button clicked in class component!');</a:t>
            </a:r>
          </a:p>
          <a:p>
            <a:pPr marL="0" indent="0">
              <a:buNone/>
            </a:pPr>
            <a:r>
              <a:rPr lang="en-IN" dirty="0"/>
              <a:t>  }</a:t>
            </a:r>
          </a:p>
          <a:p>
            <a:pPr marL="0" indent="0">
              <a:buNone/>
            </a:pPr>
            <a:r>
              <a:rPr lang="en-IN" dirty="0"/>
              <a:t>  render() {</a:t>
            </a:r>
          </a:p>
          <a:p>
            <a:pPr marL="0" indent="0">
              <a:buNone/>
            </a:pPr>
            <a:r>
              <a:rPr lang="en-IN" dirty="0"/>
              <a:t>    return (</a:t>
            </a:r>
          </a:p>
          <a:p>
            <a:pPr marL="0" indent="0">
              <a:buNone/>
            </a:pPr>
            <a:r>
              <a:rPr lang="en-IN" dirty="0"/>
              <a:t>      &lt;button </a:t>
            </a:r>
            <a:r>
              <a:rPr lang="en-IN" dirty="0" err="1"/>
              <a:t>onClick</a:t>
            </a:r>
            <a:r>
              <a:rPr lang="en-IN" dirty="0"/>
              <a:t>={</a:t>
            </a:r>
            <a:r>
              <a:rPr lang="en-IN" dirty="0" err="1"/>
              <a:t>this.handleClick</a:t>
            </a:r>
            <a:r>
              <a:rPr lang="en-IN" dirty="0"/>
              <a:t>}&gt;Click Me&lt;/button&gt;</a:t>
            </a:r>
          </a:p>
          <a:p>
            <a:pPr marL="0" indent="0">
              <a:buNone/>
            </a:pPr>
            <a:r>
              <a:rPr lang="en-IN" dirty="0"/>
              <a:t>    );</a:t>
            </a:r>
          </a:p>
          <a:p>
            <a:pPr marL="0" indent="0">
              <a:buNone/>
            </a:pPr>
            <a:r>
              <a:rPr lang="en-IN" dirty="0"/>
              <a:t>  }</a:t>
            </a:r>
          </a:p>
          <a:p>
            <a:pPr marL="0" indent="0">
              <a:buNone/>
            </a:pPr>
            <a:r>
              <a:rPr lang="en-IN" dirty="0"/>
              <a:t>}</a:t>
            </a:r>
          </a:p>
          <a:p>
            <a:pPr marL="0" indent="0">
              <a:buNone/>
            </a:pPr>
            <a:r>
              <a:rPr lang="en-IN" dirty="0"/>
              <a:t>export default App;</a:t>
            </a:r>
          </a:p>
          <a:p>
            <a:pPr marL="0" indent="0">
              <a:buNone/>
            </a:pPr>
            <a:endParaRPr lang="en-IN" dirty="0"/>
          </a:p>
        </p:txBody>
      </p:sp>
    </p:spTree>
    <p:extLst>
      <p:ext uri="{BB962C8B-B14F-4D97-AF65-F5344CB8AC3E}">
        <p14:creationId xmlns:p14="http://schemas.microsoft.com/office/powerpoint/2010/main" val="3997129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04447" y="235533"/>
            <a:ext cx="11154507"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Prevent Default Behavior</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 React, you can call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event.preventDefault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to stop the default behavior of an element.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function App()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const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handleSubmit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(event) =&gt;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event.preventDefault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alert('Form submitted!');</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return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&lt;form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onSubmit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handleSubmit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&lt;button type="submit"&gt;Submit&lt;/button&gt;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&lt;/form&gt;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2103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38200" y="-105876"/>
            <a:ext cx="10685585"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Handling Events with Hooks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For functional components,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React's</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Hooks</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like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useState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or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useEffect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can be used to handle more complex event-driven logic.</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import React, {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useState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from 'react';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function App()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const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inputValue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setInputValue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useState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const</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handleChange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(event) =&gt;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setInputValue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event.target.value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return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&lt;div&gt;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&lt;input type="text" value={</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inputValue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onChange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handleChange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/&gt;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&lt;p&gt;Current value: {</a:t>
            </a:r>
            <a:r>
              <a:rPr kumimoji="0" lang="en-US" altLang="en-US"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inputValue</a:t>
            </a: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}&lt;/p&gt;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&lt;/div&gt;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export default App;</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398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1510"/>
            <a:ext cx="10515600" cy="5525453"/>
          </a:xfrm>
        </p:spPr>
        <p:txBody>
          <a:bodyPr>
            <a:normAutofit fontScale="77500" lnSpcReduction="20000"/>
          </a:bodyPr>
          <a:lstStyle/>
          <a:p>
            <a:pPr marL="0" indent="0">
              <a:buNone/>
            </a:pPr>
            <a:r>
              <a:rPr lang="en-IN" dirty="0"/>
              <a:t>Event Pooling</a:t>
            </a:r>
          </a:p>
          <a:p>
            <a:pPr marL="0" indent="0">
              <a:buNone/>
            </a:pPr>
            <a:r>
              <a:rPr lang="en-IN" dirty="0"/>
              <a:t>React optimizes event handling by reusing the event objects across multiple events for performance reasons. This process is called "event pooling". If you need to access the event object asynchronously (like inside a </a:t>
            </a:r>
            <a:r>
              <a:rPr lang="en-IN" dirty="0" err="1"/>
              <a:t>setTimeout</a:t>
            </a:r>
            <a:r>
              <a:rPr lang="en-IN" dirty="0"/>
              <a:t> or a promise), you'll need to call </a:t>
            </a:r>
            <a:r>
              <a:rPr lang="en-IN" dirty="0" err="1"/>
              <a:t>event.persist</a:t>
            </a:r>
            <a:r>
              <a:rPr lang="en-IN" dirty="0"/>
              <a:t>().</a:t>
            </a:r>
          </a:p>
          <a:p>
            <a:pPr marL="0" indent="0">
              <a:buNone/>
            </a:pPr>
            <a:r>
              <a:rPr lang="en-IN" dirty="0"/>
              <a:t>function App() {</a:t>
            </a:r>
          </a:p>
          <a:p>
            <a:pPr marL="0" indent="0">
              <a:buNone/>
            </a:pPr>
            <a:r>
              <a:rPr lang="en-IN" dirty="0"/>
              <a:t>  </a:t>
            </a:r>
            <a:r>
              <a:rPr lang="en-IN" dirty="0" err="1"/>
              <a:t>const</a:t>
            </a:r>
            <a:r>
              <a:rPr lang="en-IN" dirty="0"/>
              <a:t> </a:t>
            </a:r>
            <a:r>
              <a:rPr lang="en-IN" dirty="0" err="1"/>
              <a:t>handleClick</a:t>
            </a:r>
            <a:r>
              <a:rPr lang="en-IN" dirty="0"/>
              <a:t> = (event) =&gt; {</a:t>
            </a:r>
          </a:p>
          <a:p>
            <a:pPr marL="0" indent="0">
              <a:buNone/>
            </a:pPr>
            <a:r>
              <a:rPr lang="en-IN" dirty="0"/>
              <a:t>    </a:t>
            </a:r>
            <a:r>
              <a:rPr lang="en-IN" dirty="0" err="1"/>
              <a:t>event.persist</a:t>
            </a:r>
            <a:r>
              <a:rPr lang="en-IN" dirty="0"/>
              <a:t>(); </a:t>
            </a:r>
          </a:p>
          <a:p>
            <a:pPr marL="0" indent="0">
              <a:buNone/>
            </a:pPr>
            <a:r>
              <a:rPr lang="en-IN" dirty="0"/>
              <a:t>    </a:t>
            </a:r>
            <a:r>
              <a:rPr lang="en-IN" dirty="0" err="1"/>
              <a:t>setTimeout</a:t>
            </a:r>
            <a:r>
              <a:rPr lang="en-IN" dirty="0"/>
              <a:t>(() =&gt; {</a:t>
            </a:r>
          </a:p>
          <a:p>
            <a:pPr marL="0" indent="0">
              <a:buNone/>
            </a:pPr>
            <a:r>
              <a:rPr lang="en-IN" dirty="0"/>
              <a:t>      console.log(</a:t>
            </a:r>
            <a:r>
              <a:rPr lang="en-IN" dirty="0" err="1"/>
              <a:t>event.type</a:t>
            </a:r>
            <a:r>
              <a:rPr lang="en-IN" dirty="0"/>
              <a:t>); </a:t>
            </a:r>
          </a:p>
          <a:p>
            <a:pPr marL="0" indent="0">
              <a:buNone/>
            </a:pPr>
            <a:r>
              <a:rPr lang="en-IN" dirty="0"/>
              <a:t>    }, 1000);</a:t>
            </a:r>
          </a:p>
          <a:p>
            <a:pPr marL="0" indent="0">
              <a:buNone/>
            </a:pPr>
            <a:r>
              <a:rPr lang="en-IN" dirty="0"/>
              <a:t>  };</a:t>
            </a:r>
          </a:p>
          <a:p>
            <a:pPr marL="0" indent="0">
              <a:buNone/>
            </a:pPr>
            <a:r>
              <a:rPr lang="en-IN" dirty="0"/>
              <a:t>  return (</a:t>
            </a:r>
          </a:p>
          <a:p>
            <a:pPr marL="0" indent="0">
              <a:buNone/>
            </a:pPr>
            <a:r>
              <a:rPr lang="en-IN" dirty="0"/>
              <a:t>    &lt;button </a:t>
            </a:r>
            <a:r>
              <a:rPr lang="en-IN" dirty="0" err="1"/>
              <a:t>onClick</a:t>
            </a:r>
            <a:r>
              <a:rPr lang="en-IN" dirty="0"/>
              <a:t>={</a:t>
            </a:r>
            <a:r>
              <a:rPr lang="en-IN" dirty="0" err="1"/>
              <a:t>handleClick</a:t>
            </a:r>
            <a:r>
              <a:rPr lang="en-IN" dirty="0"/>
              <a:t>}&gt;Click Me&lt;/button&gt;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742947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6465"/>
          </a:xfrm>
        </p:spPr>
        <p:txBody>
          <a:bodyPr/>
          <a:lstStyle/>
          <a:p>
            <a:r>
              <a:rPr lang="en-IN" dirty="0"/>
              <a:t>Stateless </a:t>
            </a:r>
            <a:r>
              <a:rPr lang="en-IN" dirty="0" smtClean="0"/>
              <a:t>Components</a:t>
            </a:r>
            <a:endParaRPr lang="en-IN" dirty="0"/>
          </a:p>
        </p:txBody>
      </p:sp>
      <p:sp>
        <p:nvSpPr>
          <p:cNvPr id="3" name="Content Placeholder 2"/>
          <p:cNvSpPr>
            <a:spLocks noGrp="1"/>
          </p:cNvSpPr>
          <p:nvPr>
            <p:ph idx="1"/>
          </p:nvPr>
        </p:nvSpPr>
        <p:spPr>
          <a:xfrm>
            <a:off x="838200" y="1291590"/>
            <a:ext cx="10515600" cy="5189220"/>
          </a:xfrm>
        </p:spPr>
        <p:txBody>
          <a:bodyPr>
            <a:normAutofit fontScale="70000" lnSpcReduction="20000"/>
          </a:bodyPr>
          <a:lstStyle/>
          <a:p>
            <a:pPr marL="0" indent="0" algn="just">
              <a:buNone/>
            </a:pPr>
            <a:r>
              <a:rPr lang="en-IN" dirty="0">
                <a:latin typeface="Times New Roman" panose="02020603050405020304" pitchFamily="18" charset="0"/>
                <a:cs typeface="Times New Roman" panose="02020603050405020304" pitchFamily="18" charset="0"/>
              </a:rPr>
              <a:t>Stateless components, also called </a:t>
            </a:r>
            <a:r>
              <a:rPr lang="en-IN" b="1" dirty="0">
                <a:latin typeface="Times New Roman" panose="02020603050405020304" pitchFamily="18" charset="0"/>
                <a:cs typeface="Times New Roman" panose="02020603050405020304" pitchFamily="18" charset="0"/>
              </a:rPr>
              <a:t>presentational components</a:t>
            </a:r>
            <a:r>
              <a:rPr lang="en-IN" dirty="0">
                <a:latin typeface="Times New Roman" panose="02020603050405020304" pitchFamily="18" charset="0"/>
                <a:cs typeface="Times New Roman" panose="02020603050405020304" pitchFamily="18" charset="0"/>
              </a:rPr>
              <a:t> or </a:t>
            </a:r>
            <a:r>
              <a:rPr lang="en-IN" b="1" dirty="0">
                <a:latin typeface="Times New Roman" panose="02020603050405020304" pitchFamily="18" charset="0"/>
                <a:cs typeface="Times New Roman" panose="02020603050405020304" pitchFamily="18" charset="0"/>
              </a:rPr>
              <a:t>dumb components</a:t>
            </a:r>
            <a:r>
              <a:rPr lang="en-IN" dirty="0">
                <a:latin typeface="Times New Roman" panose="02020603050405020304" pitchFamily="18" charset="0"/>
                <a:cs typeface="Times New Roman" panose="02020603050405020304" pitchFamily="18" charset="0"/>
              </a:rPr>
              <a:t>, do not manage or maintain their own state. They receive data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via </a:t>
            </a:r>
            <a:r>
              <a:rPr lang="en-IN" b="1" dirty="0">
                <a:latin typeface="Times New Roman" panose="02020603050405020304" pitchFamily="18" charset="0"/>
                <a:cs typeface="Times New Roman" panose="02020603050405020304" pitchFamily="18" charset="0"/>
              </a:rPr>
              <a:t>props</a:t>
            </a:r>
            <a:r>
              <a:rPr lang="en-IN" dirty="0">
                <a:latin typeface="Times New Roman" panose="02020603050405020304" pitchFamily="18" charset="0"/>
                <a:cs typeface="Times New Roman" panose="02020603050405020304" pitchFamily="18" charset="0"/>
              </a:rPr>
              <a:t> and are responsible solely for rendering content based on that input.</a:t>
            </a:r>
          </a:p>
          <a:p>
            <a:pPr marL="0" indent="0" algn="just">
              <a:buNone/>
            </a:pPr>
            <a:r>
              <a:rPr lang="en-IN" b="1" dirty="0">
                <a:latin typeface="Times New Roman" panose="02020603050405020304" pitchFamily="18" charset="0"/>
                <a:cs typeface="Times New Roman" panose="02020603050405020304" pitchFamily="18" charset="0"/>
              </a:rPr>
              <a:t>Characteristics</a:t>
            </a:r>
            <a:r>
              <a:rPr lang="en-IN" dirty="0">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No internal state management.</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Pure functions: Given the same input (props), they always render the same output.</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They rely entirely on props for data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Typically focused on rendering UI, without side effects.</a:t>
            </a:r>
          </a:p>
          <a:p>
            <a:pPr marL="0" indent="0" algn="just">
              <a:buNone/>
            </a:pPr>
            <a:r>
              <a:rPr lang="en-IN" b="1" dirty="0">
                <a:latin typeface="Times New Roman" panose="02020603050405020304" pitchFamily="18" charset="0"/>
                <a:cs typeface="Times New Roman" panose="02020603050405020304" pitchFamily="18" charset="0"/>
              </a:rPr>
              <a:t>Advantages</a:t>
            </a:r>
            <a:r>
              <a:rPr lang="en-IN" dirty="0">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Simpler and easier to maintain.</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More reusable, as they rely on props rather than internal logic.</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Easier to test due to their deterministic nature</a:t>
            </a:r>
            <a:r>
              <a:rPr lang="en-IN" dirty="0" smtClean="0">
                <a:latin typeface="Times New Roman" panose="02020603050405020304" pitchFamily="18" charset="0"/>
                <a:cs typeface="Times New Roman" panose="02020603050405020304" pitchFamily="18" charset="0"/>
              </a:rPr>
              <a:t>.</a:t>
            </a:r>
          </a:p>
          <a:p>
            <a:pPr marL="0" indent="0">
              <a:buNone/>
            </a:pPr>
            <a:r>
              <a:rPr lang="en-IN" b="1" dirty="0">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a:p>
            <a:pPr marL="0" indent="0">
              <a:buNone/>
            </a:pPr>
            <a:r>
              <a:rPr lang="en-IN" b="1" dirty="0" err="1">
                <a:latin typeface="Times New Roman" panose="02020603050405020304" pitchFamily="18" charset="0"/>
                <a:cs typeface="Times New Roman" panose="02020603050405020304" pitchFamily="18" charset="0"/>
              </a:rPr>
              <a:t>const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StatelessComponent</a:t>
            </a:r>
            <a:r>
              <a:rPr lang="en-IN" b="1" dirty="0">
                <a:latin typeface="Times New Roman" panose="02020603050405020304" pitchFamily="18" charset="0"/>
                <a:cs typeface="Times New Roman" panose="02020603050405020304" pitchFamily="18" charset="0"/>
              </a:rPr>
              <a:t> = ({ message }) =&gt; {</a:t>
            </a: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  return &lt;div&gt;{message}&lt;/div&gt;;</a:t>
            </a: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
            </a:pPr>
            <a:endParaRPr lang="en-IN" dirty="0"/>
          </a:p>
          <a:p>
            <a:pPr marL="0" indent="0">
              <a:buNone/>
            </a:pPr>
            <a:endParaRPr lang="en-IN" dirty="0"/>
          </a:p>
        </p:txBody>
      </p:sp>
    </p:spTree>
    <p:extLst>
      <p:ext uri="{BB962C8B-B14F-4D97-AF65-F5344CB8AC3E}">
        <p14:creationId xmlns:p14="http://schemas.microsoft.com/office/powerpoint/2010/main" val="3762309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2165"/>
          </a:xfrm>
        </p:spPr>
        <p:txBody>
          <a:bodyPr/>
          <a:lstStyle/>
          <a:p>
            <a:r>
              <a:rPr lang="en-IN" dirty="0" err="1"/>
              <a:t>Stateful</a:t>
            </a:r>
            <a:r>
              <a:rPr lang="en-IN" dirty="0"/>
              <a:t> </a:t>
            </a:r>
            <a:r>
              <a:rPr lang="en-IN" dirty="0" smtClean="0"/>
              <a:t>Components</a:t>
            </a:r>
            <a:endParaRPr lang="en-IN" dirty="0"/>
          </a:p>
        </p:txBody>
      </p:sp>
      <p:sp>
        <p:nvSpPr>
          <p:cNvPr id="3" name="Content Placeholder 2"/>
          <p:cNvSpPr>
            <a:spLocks noGrp="1"/>
          </p:cNvSpPr>
          <p:nvPr>
            <p:ph idx="1"/>
          </p:nvPr>
        </p:nvSpPr>
        <p:spPr>
          <a:xfrm>
            <a:off x="838200" y="1177290"/>
            <a:ext cx="10515600" cy="4999673"/>
          </a:xfrm>
        </p:spPr>
        <p:txBody>
          <a:bodyPr>
            <a:normAutofit fontScale="85000" lnSpcReduction="10000"/>
          </a:bodyPr>
          <a:lstStyle/>
          <a:p>
            <a:pPr marL="0" indent="0" algn="just">
              <a:buNone/>
            </a:pPr>
            <a:r>
              <a:rPr lang="en-IN" dirty="0" err="1">
                <a:latin typeface="Times New Roman" panose="02020603050405020304" pitchFamily="18" charset="0"/>
                <a:cs typeface="Times New Roman" panose="02020603050405020304" pitchFamily="18" charset="0"/>
              </a:rPr>
              <a:t>Stateful</a:t>
            </a:r>
            <a:r>
              <a:rPr lang="en-IN" dirty="0">
                <a:latin typeface="Times New Roman" panose="02020603050405020304" pitchFamily="18" charset="0"/>
                <a:cs typeface="Times New Roman" panose="02020603050405020304" pitchFamily="18" charset="0"/>
              </a:rPr>
              <a:t> components, also known as </a:t>
            </a:r>
            <a:r>
              <a:rPr lang="en-IN" b="1" dirty="0">
                <a:latin typeface="Times New Roman" panose="02020603050405020304" pitchFamily="18" charset="0"/>
                <a:cs typeface="Times New Roman" panose="02020603050405020304" pitchFamily="18" charset="0"/>
              </a:rPr>
              <a:t>container components</a:t>
            </a:r>
            <a:r>
              <a:rPr lang="en-IN" dirty="0">
                <a:latin typeface="Times New Roman" panose="02020603050405020304" pitchFamily="18" charset="0"/>
                <a:cs typeface="Times New Roman" panose="02020603050405020304" pitchFamily="18" charset="0"/>
              </a:rPr>
              <a:t> or </a:t>
            </a:r>
            <a:r>
              <a:rPr lang="en-IN" b="1" dirty="0">
                <a:latin typeface="Times New Roman" panose="02020603050405020304" pitchFamily="18" charset="0"/>
                <a:cs typeface="Times New Roman" panose="02020603050405020304" pitchFamily="18" charset="0"/>
              </a:rPr>
              <a:t>smart components</a:t>
            </a:r>
            <a:r>
              <a:rPr lang="en-IN" dirty="0">
                <a:latin typeface="Times New Roman" panose="02020603050405020304" pitchFamily="18" charset="0"/>
                <a:cs typeface="Times New Roman" panose="02020603050405020304" pitchFamily="18" charset="0"/>
              </a:rPr>
              <a:t>, maintain their own internal state and can update that state based on user actions or other events. They are responsible not only for rendering UI but also for handling logic, state updates, and potentially side effects like fetching data.</a:t>
            </a:r>
          </a:p>
          <a:p>
            <a:pPr marL="0" indent="0" algn="just">
              <a:buNone/>
            </a:pPr>
            <a:r>
              <a:rPr lang="en-IN" b="1" dirty="0" smtClean="0">
                <a:latin typeface="Times New Roman" panose="02020603050405020304" pitchFamily="18" charset="0"/>
                <a:cs typeface="Times New Roman" panose="02020603050405020304" pitchFamily="18" charset="0"/>
              </a:rPr>
              <a:t>Characteristics</a:t>
            </a:r>
            <a:r>
              <a:rPr lang="en-IN" dirty="0">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Maintain and manage their own state using hooks like </a:t>
            </a:r>
            <a:r>
              <a:rPr lang="en-IN" dirty="0" err="1">
                <a:latin typeface="Times New Roman" panose="02020603050405020304" pitchFamily="18" charset="0"/>
                <a:cs typeface="Times New Roman" panose="02020603050405020304" pitchFamily="18" charset="0"/>
              </a:rPr>
              <a:t>useState</a:t>
            </a:r>
            <a:r>
              <a:rPr lang="en-IN" dirty="0">
                <a:latin typeface="Times New Roman" panose="02020603050405020304" pitchFamily="18" charset="0"/>
                <a:cs typeface="Times New Roman" panose="02020603050405020304" pitchFamily="18" charset="0"/>
              </a:rPr>
              <a:t> (in functional components) or </a:t>
            </a:r>
            <a:r>
              <a:rPr lang="en-IN" dirty="0" err="1">
                <a:latin typeface="Times New Roman" panose="02020603050405020304" pitchFamily="18" charset="0"/>
                <a:cs typeface="Times New Roman" panose="02020603050405020304" pitchFamily="18" charset="0"/>
              </a:rPr>
              <a:t>this.state</a:t>
            </a:r>
            <a:r>
              <a:rPr lang="en-IN" dirty="0">
                <a:latin typeface="Times New Roman" panose="02020603050405020304" pitchFamily="18" charset="0"/>
                <a:cs typeface="Times New Roman" panose="02020603050405020304" pitchFamily="18" charset="0"/>
              </a:rPr>
              <a:t> (in class-based components).</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Can handle user input, network requests, and other interactions that require dynamic state changes.</a:t>
            </a:r>
          </a:p>
          <a:p>
            <a:pPr lvl="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Typically interact with stateless components by passing down state as props.</a:t>
            </a:r>
          </a:p>
          <a:p>
            <a:pPr marL="0" indent="0" algn="just">
              <a:buNone/>
            </a:pPr>
            <a:r>
              <a:rPr lang="en-IN" b="1" dirty="0">
                <a:latin typeface="Times New Roman" panose="02020603050405020304" pitchFamily="18" charset="0"/>
                <a:cs typeface="Times New Roman" panose="02020603050405020304" pitchFamily="18" charset="0"/>
              </a:rPr>
              <a:t>Advantages</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Can handle more complex logic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Useful for components that need to handle events or manage dynamic content.</a:t>
            </a:r>
          </a:p>
          <a:p>
            <a:pPr marL="0" indent="0">
              <a:buNone/>
            </a:pPr>
            <a:endParaRPr lang="en-IN" dirty="0"/>
          </a:p>
        </p:txBody>
      </p:sp>
    </p:spTree>
    <p:extLst>
      <p:ext uri="{BB962C8B-B14F-4D97-AF65-F5344CB8AC3E}">
        <p14:creationId xmlns:p14="http://schemas.microsoft.com/office/powerpoint/2010/main" val="2551801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3585"/>
          </a:xfrm>
        </p:spPr>
        <p:txBody>
          <a:bodyPr/>
          <a:lstStyle/>
          <a:p>
            <a:r>
              <a:rPr lang="en-US" dirty="0" smtClean="0"/>
              <a:t>Example:-</a:t>
            </a:r>
            <a:endParaRPr lang="en-IN" dirty="0"/>
          </a:p>
        </p:txBody>
      </p:sp>
      <p:sp>
        <p:nvSpPr>
          <p:cNvPr id="3" name="Content Placeholder 2"/>
          <p:cNvSpPr>
            <a:spLocks noGrp="1"/>
          </p:cNvSpPr>
          <p:nvPr>
            <p:ph idx="1"/>
          </p:nvPr>
        </p:nvSpPr>
        <p:spPr>
          <a:xfrm>
            <a:off x="838200" y="1108710"/>
            <a:ext cx="10515600" cy="5068253"/>
          </a:xfrm>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import React, { </a:t>
            </a:r>
            <a:r>
              <a:rPr lang="en-IN" dirty="0" err="1">
                <a:latin typeface="Times New Roman" panose="02020603050405020304" pitchFamily="18" charset="0"/>
                <a:cs typeface="Times New Roman" panose="02020603050405020304" pitchFamily="18" charset="0"/>
              </a:rPr>
              <a:t>useState</a:t>
            </a:r>
            <a:r>
              <a:rPr lang="en-IN" dirty="0">
                <a:latin typeface="Times New Roman" panose="02020603050405020304" pitchFamily="18" charset="0"/>
                <a:cs typeface="Times New Roman" panose="02020603050405020304" pitchFamily="18" charset="0"/>
              </a:rPr>
              <a:t> } from 'react';</a:t>
            </a:r>
          </a:p>
          <a:p>
            <a:pPr marL="0" indent="0">
              <a:buNone/>
            </a:pPr>
            <a:r>
              <a:rPr lang="en-IN" dirty="0" err="1">
                <a:latin typeface="Times New Roman" panose="02020603050405020304" pitchFamily="18" charset="0"/>
                <a:cs typeface="Times New Roman" panose="02020603050405020304" pitchFamily="18" charset="0"/>
              </a:rPr>
              <a:t>const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Statefull</a:t>
            </a:r>
            <a:r>
              <a:rPr lang="en-IN" dirty="0">
                <a:latin typeface="Times New Roman" panose="02020603050405020304" pitchFamily="18" charset="0"/>
                <a:cs typeface="Times New Roman" panose="02020603050405020304" pitchFamily="18" charset="0"/>
              </a:rPr>
              <a:t> = () =&gt; {</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const</a:t>
            </a:r>
            <a:r>
              <a:rPr lang="en-IN" dirty="0">
                <a:latin typeface="Times New Roman" panose="02020603050405020304" pitchFamily="18" charset="0"/>
                <a:cs typeface="Times New Roman" panose="02020603050405020304" pitchFamily="18" charset="0"/>
              </a:rPr>
              <a:t> [count, </a:t>
            </a:r>
            <a:r>
              <a:rPr lang="en-IN" dirty="0" err="1">
                <a:latin typeface="Times New Roman" panose="02020603050405020304" pitchFamily="18" charset="0"/>
                <a:cs typeface="Times New Roman" panose="02020603050405020304" pitchFamily="18" charset="0"/>
              </a:rPr>
              <a:t>setCount</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useState</a:t>
            </a:r>
            <a:r>
              <a:rPr lang="en-IN" dirty="0">
                <a:latin typeface="Times New Roman" panose="02020603050405020304" pitchFamily="18" charset="0"/>
                <a:cs typeface="Times New Roman" panose="02020603050405020304" pitchFamily="18" charset="0"/>
              </a:rPr>
              <a:t>(0);</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const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handleClick</a:t>
            </a:r>
            <a:r>
              <a:rPr lang="en-IN" dirty="0">
                <a:latin typeface="Times New Roman" panose="02020603050405020304" pitchFamily="18" charset="0"/>
                <a:cs typeface="Times New Roman" panose="02020603050405020304" pitchFamily="18" charset="0"/>
              </a:rPr>
              <a:t> = () =&gt; {</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setCount</a:t>
            </a:r>
            <a:r>
              <a:rPr lang="en-IN" dirty="0">
                <a:latin typeface="Times New Roman" panose="02020603050405020304" pitchFamily="18" charset="0"/>
                <a:cs typeface="Times New Roman" panose="02020603050405020304" pitchFamily="18" charset="0"/>
              </a:rPr>
              <a:t>(count + 1);</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return (</a:t>
            </a:r>
          </a:p>
          <a:p>
            <a:pPr marL="0" indent="0">
              <a:buNone/>
            </a:pPr>
            <a:r>
              <a:rPr lang="en-IN" dirty="0">
                <a:latin typeface="Times New Roman" panose="02020603050405020304" pitchFamily="18" charset="0"/>
                <a:cs typeface="Times New Roman" panose="02020603050405020304" pitchFamily="18" charset="0"/>
              </a:rPr>
              <a:t>    &lt;div&gt;</a:t>
            </a:r>
          </a:p>
          <a:p>
            <a:pPr marL="0" indent="0">
              <a:buNone/>
            </a:pPr>
            <a:r>
              <a:rPr lang="en-IN" dirty="0">
                <a:latin typeface="Times New Roman" panose="02020603050405020304" pitchFamily="18" charset="0"/>
                <a:cs typeface="Times New Roman" panose="02020603050405020304" pitchFamily="18" charset="0"/>
              </a:rPr>
              <a:t>      &lt;h1&gt;Button clicked {count} times&lt;/h1&gt;</a:t>
            </a:r>
          </a:p>
          <a:p>
            <a:pPr marL="0" indent="0">
              <a:buNone/>
            </a:pPr>
            <a:r>
              <a:rPr lang="en-IN" dirty="0">
                <a:latin typeface="Times New Roman" panose="02020603050405020304" pitchFamily="18" charset="0"/>
                <a:cs typeface="Times New Roman" panose="02020603050405020304" pitchFamily="18" charset="0"/>
              </a:rPr>
              <a:t>      &lt;button </a:t>
            </a:r>
            <a:r>
              <a:rPr lang="en-IN" dirty="0" err="1">
                <a:latin typeface="Times New Roman" panose="02020603050405020304" pitchFamily="18" charset="0"/>
                <a:cs typeface="Times New Roman" panose="02020603050405020304" pitchFamily="18" charset="0"/>
              </a:rPr>
              <a:t>onClick</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handleClick</a:t>
            </a:r>
            <a:r>
              <a:rPr lang="en-IN" dirty="0">
                <a:latin typeface="Times New Roman" panose="02020603050405020304" pitchFamily="18" charset="0"/>
                <a:cs typeface="Times New Roman" panose="02020603050405020304" pitchFamily="18" charset="0"/>
              </a:rPr>
              <a:t>}&gt;Click me&lt;/button&gt;</a:t>
            </a:r>
          </a:p>
          <a:p>
            <a:pPr marL="0" indent="0">
              <a:buNone/>
            </a:pPr>
            <a:r>
              <a:rPr lang="en-IN" dirty="0">
                <a:latin typeface="Times New Roman" panose="02020603050405020304" pitchFamily="18" charset="0"/>
                <a:cs typeface="Times New Roman" panose="02020603050405020304" pitchFamily="18" charset="0"/>
              </a:rPr>
              <a:t>    &lt;/div&gt;</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export default </a:t>
            </a:r>
            <a:r>
              <a:rPr lang="en-IN" dirty="0" err="1">
                <a:latin typeface="Times New Roman" panose="02020603050405020304" pitchFamily="18" charset="0"/>
                <a:cs typeface="Times New Roman" panose="02020603050405020304" pitchFamily="18" charset="0"/>
              </a:rPr>
              <a:t>Statefull</a:t>
            </a:r>
            <a:r>
              <a:rPr lang="en-IN"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2548635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2040</Words>
  <Application>Microsoft Office PowerPoint</Application>
  <PresentationFormat>Widescreen</PresentationFormat>
  <Paragraphs>252</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Wingdings</vt:lpstr>
      <vt:lpstr>Office Theme</vt:lpstr>
      <vt:lpstr>Event Handling in React</vt:lpstr>
      <vt:lpstr>2. Keyboard Events</vt:lpstr>
      <vt:lpstr>3. Form Events</vt:lpstr>
      <vt:lpstr>4. Focus Events</vt:lpstr>
      <vt:lpstr>5. Touch Events</vt:lpstr>
      <vt:lpstr>6. Clipboard Events</vt:lpstr>
      <vt:lpstr>7. Form Input Events</vt:lpstr>
      <vt:lpstr>8. Drag Events</vt:lpstr>
      <vt:lpstr>9. Wheel Events</vt:lpstr>
      <vt:lpstr>10. Media Events</vt:lpstr>
      <vt:lpstr>11. Image Events</vt:lpstr>
      <vt:lpstr>12. Animation Events</vt:lpstr>
      <vt:lpstr>13. Transition Events</vt:lpstr>
      <vt:lpstr>14. Other Events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Stateless Components</vt:lpstr>
      <vt:lpstr>Stateful Components</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Handling in React</dc:title>
  <dc:creator>User</dc:creator>
  <cp:lastModifiedBy>User</cp:lastModifiedBy>
  <cp:revision>8</cp:revision>
  <dcterms:created xsi:type="dcterms:W3CDTF">2024-10-11T09:04:23Z</dcterms:created>
  <dcterms:modified xsi:type="dcterms:W3CDTF">2024-10-15T10:14:39Z</dcterms:modified>
</cp:coreProperties>
</file>